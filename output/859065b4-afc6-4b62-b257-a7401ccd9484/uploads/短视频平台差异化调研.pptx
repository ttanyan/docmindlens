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png" Type="http://schemas.openxmlformats.org/officeDocument/2006/relationships/image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C02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92000" cy="6858000"/>
          </a:xfrm>
          <a:prstGeom prst="rect">
            <a:avLst/>
          </a:prstGeom>
          <a:blipFill rotWithShape="true">
            <a:blip r:embed="rId2">
              <a:alphaModFix amt="100000"/>
              <a:alphaModFix amt="100000"/>
            </a:blip>
            <a:stretch>
              <a:fillRect l="0" r="0" t="0" b="0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C02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92000" cy="6858000"/>
          </a:xfrm>
          <a:prstGeom prst="rect">
            <a:avLst/>
          </a:prstGeom>
          <a:blipFill rotWithShape="true">
            <a:blip r:embed="rId2">
              <a:alphaModFix amt="100000"/>
              <a:alphaModFix amt="100000"/>
            </a:blip>
            <a:stretch>
              <a:fillRect l="0" r="0" t="0" b="0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C02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92000" cy="6858000"/>
          </a:xfrm>
          <a:prstGeom prst="rect">
            <a:avLst/>
          </a:prstGeom>
          <a:blipFill rotWithShape="true">
            <a:blip r:embed="rId2">
              <a:alphaModFix amt="100000"/>
              <a:alphaModFix amt="100000"/>
            </a:blip>
            <a:stretch>
              <a:fillRect l="0" r="0" t="0" b="0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C02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92000" cy="6858000"/>
          </a:xfrm>
          <a:prstGeom prst="rect">
            <a:avLst/>
          </a:prstGeom>
          <a:blipFill rotWithShape="true">
            <a:blip r:embed="rId2">
              <a:alphaModFix amt="100000"/>
              <a:alphaModFix amt="100000"/>
            </a:blip>
            <a:stretch>
              <a:fillRect l="0" r="0" t="0" b="0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C02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0C02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92000" cy="6858000"/>
          </a:xfrm>
          <a:prstGeom prst="rect">
            <a:avLst/>
          </a:prstGeom>
          <a:blipFill rotWithShape="true">
            <a:blip r:embed="rId2">
              <a:alphaModFix amt="100000"/>
              <a:alphaModFix amt="100000"/>
            </a:blip>
            <a:stretch>
              <a:fillRect l="0" r="0" t="0" b="0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0C02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0"/>
            <a:ext cx="12192000" cy="6858000"/>
          </a:xfrm>
          <a:prstGeom prst="rect">
            <a:avLst/>
          </a:prstGeom>
          <a:blipFill rotWithShape="true">
            <a:blip r:embed="rId2">
              <a:alphaModFix amt="100000"/>
              <a:alphaModFix amt="100000"/>
            </a:blip>
            <a:stretch>
              <a:fillRect l="0" r="0" t="0" b="0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10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3678183" y="1438141"/>
            <a:ext cx="7840717" cy="173767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0" lIns="91440" rIns="91440" rtlCol="false" tIns="0" vert="horz" wrap="square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48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短视频平台差异化调研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5127931" y="3429000"/>
            <a:ext cx="6390969" cy="59835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0" lIns="91440" rIns="91440" rtlCol="false" tIns="0" vert="horz" wrap="square"/>
          <a:lstStyle/>
          <a:p>
            <a:pPr algn="r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3200">
                <a:ln/>
                <a:solidFill>
                  <a:srgbClr val="FFFFF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主流平台优势与路径发展分析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9493455" y="5037641"/>
            <a:ext cx="2025445" cy="406282"/>
          </a:xfrm>
          <a:prstGeom prst="round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1800">
                <a:ln/>
                <a:solidFill>
                  <a:srgbClr val="FFFFF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报告人名称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8403455" y="5443923"/>
            <a:ext cx="3115445" cy="472650"/>
          </a:xfrm>
          <a:prstGeom prst="round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1800">
                <a:ln/>
                <a:solidFill>
                  <a:srgbClr val="FFFFF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20xx.xx.xx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023f50c-8e39-4e91-abff-99fb0e2762e4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0" y="0"/>
            <a:ext cx="12192000" cy="6858000"/>
            <a:chOff x="0" y="0"/>
            <a:chExt cx="12192000" cy="6858000"/>
          </a:xfrm>
        </p:grpSpPr>
        <p:sp>
          <p:nvSpPr>
            <p:cNvPr id="4" name="AutoShape 4"/>
            <p:cNvSpPr/>
            <p:nvPr/>
          </p:nvSpPr>
          <p:spPr>
            <a:xfrm flipH="false" flipV="false" rot="0">
              <a:off x="0" y="0"/>
              <a:ext cx="12192000" cy="6858000"/>
            </a:xfrm>
            <a:custGeom>
              <a:rect b="b" l="l" r="r" t="t"/>
              <a:pathLst>
                <a:path h="6858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C022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0" y="1130300"/>
              <a:ext cx="12192000" cy="5727700"/>
            </a:xfrm>
            <a:custGeom>
              <a:rect b="b" l="l" r="r" t="t"/>
              <a:pathLst>
                <a:path h="6858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7365D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660400" y="1265769"/>
              <a:ext cx="10858500" cy="571178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 flipH="false" flipV="false" rot="0">
              <a:off x="660400" y="2034563"/>
              <a:ext cx="5305711" cy="1587618"/>
              <a:chOff x="660401" y="2034563"/>
              <a:chExt cx="2592000" cy="1587618"/>
            </a:xfrm>
          </p:grpSpPr>
          <p:sp>
            <p:nvSpPr>
              <p:cNvPr id="8" name="AutoShape 8"/>
              <p:cNvSpPr/>
              <p:nvPr/>
            </p:nvSpPr>
            <p:spPr>
              <a:xfrm flipH="false" flipV="false" rot="0">
                <a:off x="660401" y="2034563"/>
                <a:ext cx="2592000" cy="1587618"/>
              </a:xfrm>
              <a:prstGeom prst="roundRect">
                <a:avLst>
                  <a:gd fmla="val 20000" name="adj"/>
                </a:avLst>
              </a:prstGeom>
              <a:solidFill>
                <a:srgbClr val="0C022E">
                  <a:alpha val="100000"/>
                </a:srgbClr>
              </a:solidFill>
              <a:ln w="12700">
                <a:solidFill>
                  <a:srgbClr val="0C022E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 flipH="false" flipV="false" rot="0">
                <a:off x="732401" y="2200813"/>
                <a:ext cx="2448000" cy="1255120"/>
                <a:chOff x="732401" y="2099120"/>
                <a:chExt cx="2448000" cy="1138418"/>
              </a:xfrm>
            </p:grpSpPr>
            <p:sp>
              <p:nvSpPr>
                <p:cNvPr id="10" name="TextBox 10"/>
                <p:cNvSpPr txBox="true"/>
                <p:nvPr/>
              </p:nvSpPr>
              <p:spPr>
                <a:xfrm flipH="false" flipV="false" rot="0">
                  <a:off x="732401" y="2517538"/>
                  <a:ext cx="2448000" cy="7200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平台概况与用户规模</a:t>
                  </a:r>
                  <a:endParaRPr lang="en-US" sz="1100"/>
                </a:p>
              </p:txBody>
            </p:sp>
            <p:sp>
              <p:nvSpPr>
                <p:cNvPr id="11" name="TextBox 11"/>
                <p:cNvSpPr txBox="true"/>
                <p:nvPr/>
              </p:nvSpPr>
              <p:spPr>
                <a:xfrm flipH="false" flipV="false" rot="0">
                  <a:off x="732401" y="2099120"/>
                  <a:ext cx="2448000" cy="41841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none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b="true" i="false" lang="en-US" sz="20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</p:grpSp>
        </p:grpSp>
        <p:grpSp>
          <p:nvGrpSpPr>
            <p:cNvPr id="12" name="Group 12"/>
            <p:cNvGrpSpPr/>
            <p:nvPr/>
          </p:nvGrpSpPr>
          <p:grpSpPr>
            <a:xfrm flipH="false" flipV="false" rot="0">
              <a:off x="6213189" y="2034563"/>
              <a:ext cx="5305711" cy="1587618"/>
              <a:chOff x="3415901" y="2034563"/>
              <a:chExt cx="2592000" cy="1587618"/>
            </a:xfrm>
          </p:grpSpPr>
          <p:sp>
            <p:nvSpPr>
              <p:cNvPr id="13" name="AutoShape 13"/>
              <p:cNvSpPr/>
              <p:nvPr/>
            </p:nvSpPr>
            <p:spPr>
              <a:xfrm flipH="false" flipV="false" rot="0">
                <a:off x="3415901" y="2034563"/>
                <a:ext cx="2592000" cy="1587618"/>
              </a:xfrm>
              <a:prstGeom prst="roundRect">
                <a:avLst>
                  <a:gd fmla="val 20000" name="adj"/>
                </a:avLst>
              </a:prstGeom>
              <a:solidFill>
                <a:srgbClr val="0C022E">
                  <a:alpha val="100000"/>
                </a:srgbClr>
              </a:solidFill>
              <a:ln w="12700">
                <a:solidFill>
                  <a:srgbClr val="0C022E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 flipH="false" flipV="false" rot="0">
                <a:off x="3487901" y="2200813"/>
                <a:ext cx="2448000" cy="1255120"/>
                <a:chOff x="3487901" y="2099120"/>
                <a:chExt cx="2448000" cy="1138418"/>
              </a:xfrm>
            </p:grpSpPr>
            <p:sp>
              <p:nvSpPr>
                <p:cNvPr id="15" name="TextBox 15"/>
                <p:cNvSpPr txBox="true"/>
                <p:nvPr/>
              </p:nvSpPr>
              <p:spPr>
                <a:xfrm flipH="false" flipV="false" rot="0">
                  <a:off x="3487901" y="2517538"/>
                  <a:ext cx="2448000" cy="7200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内容生态与推荐机制</a:t>
                  </a:r>
                  <a:endParaRPr lang="en-US" sz="1100"/>
                </a:p>
              </p:txBody>
            </p:sp>
            <p:sp>
              <p:nvSpPr>
                <p:cNvPr id="16" name="TextBox 16"/>
                <p:cNvSpPr txBox="true"/>
                <p:nvPr/>
              </p:nvSpPr>
              <p:spPr>
                <a:xfrm flipH="false" flipV="false" rot="0">
                  <a:off x="3487901" y="2099120"/>
                  <a:ext cx="2448000" cy="41841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none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b="true" i="false" lang="en-US" sz="20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660400" y="4036114"/>
              <a:ext cx="5305711" cy="1587618"/>
              <a:chOff x="660401" y="4036114"/>
              <a:chExt cx="2592000" cy="1587618"/>
            </a:xfrm>
          </p:grpSpPr>
          <p:sp>
            <p:nvSpPr>
              <p:cNvPr id="18" name="AutoShape 18"/>
              <p:cNvSpPr/>
              <p:nvPr/>
            </p:nvSpPr>
            <p:spPr>
              <a:xfrm flipH="false" flipV="false" rot="0">
                <a:off x="660401" y="4036114"/>
                <a:ext cx="2592000" cy="1587618"/>
              </a:xfrm>
              <a:prstGeom prst="roundRect">
                <a:avLst>
                  <a:gd fmla="val 20000" name="adj"/>
                </a:avLst>
              </a:prstGeom>
              <a:solidFill>
                <a:srgbClr val="0C022E">
                  <a:alpha val="100000"/>
                </a:srgbClr>
              </a:solidFill>
              <a:ln w="12700">
                <a:solidFill>
                  <a:srgbClr val="0C022E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 flipH="false" flipV="false" rot="0">
                <a:off x="732401" y="4202363"/>
                <a:ext cx="2448000" cy="1255120"/>
                <a:chOff x="732401" y="4266202"/>
                <a:chExt cx="2448000" cy="1138418"/>
              </a:xfrm>
            </p:grpSpPr>
            <p:sp>
              <p:nvSpPr>
                <p:cNvPr id="20" name="TextBox 20"/>
                <p:cNvSpPr txBox="true"/>
                <p:nvPr/>
              </p:nvSpPr>
              <p:spPr>
                <a:xfrm flipH="false" flipV="false" rot="0">
                  <a:off x="732401" y="4684620"/>
                  <a:ext cx="2448000" cy="7200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商业化与典型案例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true"/>
                <p:nvPr/>
              </p:nvSpPr>
              <p:spPr>
                <a:xfrm flipH="false" flipV="false" rot="0">
                  <a:off x="732401" y="4266202"/>
                  <a:ext cx="2448000" cy="41841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none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b="true" i="false" lang="en-US" sz="20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</p:grpSp>
        <p:grpSp>
          <p:nvGrpSpPr>
            <p:cNvPr id="22" name="Group 22"/>
            <p:cNvGrpSpPr/>
            <p:nvPr/>
          </p:nvGrpSpPr>
          <p:grpSpPr>
            <a:xfrm flipH="false" flipV="false" rot="0">
              <a:off x="6213189" y="4036114"/>
              <a:ext cx="5305711" cy="1587618"/>
              <a:chOff x="3415901" y="4036114"/>
              <a:chExt cx="2592000" cy="1587618"/>
            </a:xfrm>
          </p:grpSpPr>
          <p:sp>
            <p:nvSpPr>
              <p:cNvPr id="23" name="AutoShape 23"/>
              <p:cNvSpPr/>
              <p:nvPr/>
            </p:nvSpPr>
            <p:spPr>
              <a:xfrm flipH="false" flipV="false" rot="0">
                <a:off x="3415901" y="4036114"/>
                <a:ext cx="2592000" cy="1587618"/>
              </a:xfrm>
              <a:prstGeom prst="roundRect">
                <a:avLst>
                  <a:gd fmla="val 20000" name="adj"/>
                </a:avLst>
              </a:prstGeom>
              <a:solidFill>
                <a:srgbClr val="0C022E">
                  <a:alpha val="100000"/>
                </a:srgbClr>
              </a:solidFill>
              <a:ln w="12700">
                <a:solidFill>
                  <a:srgbClr val="0C022E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 flipH="false" flipV="false" rot="0">
                <a:off x="3487901" y="4202363"/>
                <a:ext cx="2448000" cy="1255120"/>
                <a:chOff x="3487901" y="4266202"/>
                <a:chExt cx="2448000" cy="1138418"/>
              </a:xfrm>
            </p:grpSpPr>
            <p:sp>
              <p:nvSpPr>
                <p:cNvPr id="25" name="TextBox 25"/>
                <p:cNvSpPr txBox="true"/>
                <p:nvPr/>
              </p:nvSpPr>
              <p:spPr>
                <a:xfrm flipH="false" flipV="false" rot="0">
                  <a:off x="3487901" y="4684620"/>
                  <a:ext cx="2448000" cy="7200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差异对比与未来趋势</a:t>
                  </a:r>
                  <a:endParaRPr lang="en-US" sz="1100"/>
                </a:p>
              </p:txBody>
            </p:sp>
            <p:sp>
              <p:nvSpPr>
                <p:cNvPr id="26" name="TextBox 26"/>
                <p:cNvSpPr txBox="true"/>
                <p:nvPr/>
              </p:nvSpPr>
              <p:spPr>
                <a:xfrm flipH="false" flipV="false" rot="0">
                  <a:off x="3487901" y="4266202"/>
                  <a:ext cx="2448000" cy="41841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none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b="true" i="false" lang="en-US" sz="20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</p:grpSp>
        </p:grpSp>
      </p:grpSp>
      <p:sp>
        <p:nvSpPr>
          <p:cNvPr id="27" name="TextBox 27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617406" y="1196839"/>
            <a:ext cx="8957187" cy="160781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48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平台概况与用户规模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2846438" y="2804652"/>
            <a:ext cx="6499123" cy="62189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3200">
                <a:ln/>
                <a:solidFill>
                  <a:srgbClr val="FFFFF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各平台基本情况及用户群体特征对比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77c3e33-28ea-4d80-bd14-f9fac8742f29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6750" y="1130300"/>
            <a:ext cx="10858500" cy="5003800"/>
            <a:chOff x="666750" y="1130300"/>
            <a:chExt cx="10858500" cy="5003800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66750" y="1130300"/>
              <a:ext cx="10858500" cy="8673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字节跳动旗下短视频平台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673099" y="2461846"/>
              <a:ext cx="1728864" cy="3672254"/>
              <a:chOff x="4549561" y="2736526"/>
              <a:chExt cx="4884141" cy="1791346"/>
            </a:xfrm>
          </p:grpSpPr>
          <p:grpSp>
            <p:nvGrpSpPr>
              <p:cNvPr id="6" name="Group 6"/>
              <p:cNvGrpSpPr/>
              <p:nvPr/>
            </p:nvGrpSpPr>
            <p:grpSpPr>
              <a:xfrm flipH="false" flipV="false" rot="0">
                <a:off x="4549561" y="2736526"/>
                <a:ext cx="4884141" cy="1791346"/>
                <a:chOff x="4720526" y="2736526"/>
                <a:chExt cx="3648560" cy="1791346"/>
              </a:xfrm>
            </p:grpSpPr>
            <p:sp>
              <p:nvSpPr>
                <p:cNvPr id="7" name="AutoShape 7"/>
                <p:cNvSpPr/>
                <p:nvPr/>
              </p:nvSpPr>
              <p:spPr>
                <a:xfrm flipH="false" flipV="false" rot="0">
                  <a:off x="4720526" y="2736526"/>
                  <a:ext cx="3648560" cy="1791346"/>
                </a:xfrm>
                <a:prstGeom prst="roundRect">
                  <a:avLst>
                    <a:gd fmla="val 8077" name="adj"/>
                  </a:avLst>
                </a:prstGeom>
                <a:solidFill>
                  <a:srgbClr val="7365DF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8" name="TextBox 8"/>
                <p:cNvSpPr txBox="true"/>
                <p:nvPr/>
              </p:nvSpPr>
              <p:spPr>
                <a:xfrm flipH="true" flipV="false" rot="0">
                  <a:off x="4949321" y="3456368"/>
                  <a:ext cx="3209179" cy="102636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全球月活跃用户超过10亿，用户遍布全球各地，具有庞大且广泛的用户基础。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true"/>
                <p:nvPr/>
              </p:nvSpPr>
              <p:spPr>
                <a:xfrm flipH="false" flipV="false" rot="0">
                  <a:off x="4949323" y="3049006"/>
                  <a:ext cx="3209177" cy="407361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注册用户数</a:t>
                  </a:r>
                  <a:endParaRPr lang="en-US" sz="1100"/>
                </a:p>
              </p:txBody>
            </p:sp>
          </p:grp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4855837" y="2775303"/>
                <a:ext cx="1360548" cy="234926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flipH="false" flipV="false" rot="0">
              <a:off x="2496486" y="2461846"/>
              <a:ext cx="1728864" cy="3672254"/>
              <a:chOff x="4489080" y="2736526"/>
              <a:chExt cx="4884141" cy="1791346"/>
            </a:xfrm>
          </p:grpSpPr>
          <p:grpSp>
            <p:nvGrpSpPr>
              <p:cNvPr id="12" name="Group 12"/>
              <p:cNvGrpSpPr/>
              <p:nvPr/>
            </p:nvGrpSpPr>
            <p:grpSpPr>
              <a:xfrm flipH="false" flipV="false" rot="0">
                <a:off x="4489080" y="2736526"/>
                <a:ext cx="4884141" cy="1791346"/>
                <a:chOff x="4675345" y="2736526"/>
                <a:chExt cx="3648560" cy="1791346"/>
              </a:xfrm>
            </p:grpSpPr>
            <p:sp>
              <p:nvSpPr>
                <p:cNvPr id="13" name="AutoShape 13"/>
                <p:cNvSpPr/>
                <p:nvPr/>
              </p:nvSpPr>
              <p:spPr>
                <a:xfrm flipH="false" flipV="false" rot="0">
                  <a:off x="4675345" y="2736526"/>
                  <a:ext cx="3648560" cy="1791346"/>
                </a:xfrm>
                <a:prstGeom prst="roundRect">
                  <a:avLst>
                    <a:gd fmla="val 8077" name="adj"/>
                  </a:avLst>
                </a:prstGeom>
                <a:solidFill>
                  <a:srgbClr val="CC00FF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TextBox 14"/>
                <p:cNvSpPr txBox="true"/>
                <p:nvPr/>
              </p:nvSpPr>
              <p:spPr>
                <a:xfrm flipH="true" flipV="false" rot="0">
                  <a:off x="4904140" y="3456368"/>
                  <a:ext cx="3209179" cy="102636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日活跃用户超5亿，用户活跃度高，平台互动频繁，内容更新速度快。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true"/>
                <p:nvPr/>
              </p:nvSpPr>
              <p:spPr>
                <a:xfrm flipH="false" flipV="false" rot="0">
                  <a:off x="4904142" y="3049006"/>
                  <a:ext cx="3209177" cy="407361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日活用户数</a:t>
                  </a:r>
                  <a:endParaRPr lang="en-US" sz="1100"/>
                </a:p>
              </p:txBody>
            </p:sp>
          </p:grp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4855837" y="2775303"/>
                <a:ext cx="1360548" cy="234926"/>
              </a:xfrm>
              <a:prstGeom prst="ellipse">
                <a:avLst/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4319873" y="2461846"/>
              <a:ext cx="1728864" cy="3672254"/>
              <a:chOff x="4428598" y="2736526"/>
              <a:chExt cx="4884141" cy="1791346"/>
            </a:xfrm>
          </p:grpSpPr>
          <p:grpSp>
            <p:nvGrpSpPr>
              <p:cNvPr id="18" name="Group 18"/>
              <p:cNvGrpSpPr/>
              <p:nvPr/>
            </p:nvGrpSpPr>
            <p:grpSpPr>
              <a:xfrm flipH="false" flipV="false" rot="0">
                <a:off x="4428598" y="2736526"/>
                <a:ext cx="4884141" cy="1791346"/>
                <a:chOff x="4630164" y="2736526"/>
                <a:chExt cx="3648560" cy="1791346"/>
              </a:xfrm>
            </p:grpSpPr>
            <p:sp>
              <p:nvSpPr>
                <p:cNvPr id="19" name="AutoShape 19"/>
                <p:cNvSpPr/>
                <p:nvPr/>
              </p:nvSpPr>
              <p:spPr>
                <a:xfrm flipH="false" flipV="false" rot="0">
                  <a:off x="4630164" y="2736526"/>
                  <a:ext cx="3648560" cy="1791346"/>
                </a:xfrm>
                <a:prstGeom prst="roundRect">
                  <a:avLst>
                    <a:gd fmla="val 8077" name="adj"/>
                  </a:avLst>
                </a:prstGeom>
                <a:solidFill>
                  <a:srgbClr val="0066FF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TextBox 20"/>
                <p:cNvSpPr txBox="true"/>
                <p:nvPr/>
              </p:nvSpPr>
              <p:spPr>
                <a:xfrm flipH="true" flipV="false" rot="0">
                  <a:off x="4858959" y="3456368"/>
                  <a:ext cx="3209179" cy="102636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覆盖全球150个国家和地区，支持多种语言，深受不同地区用户喜爱。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true"/>
                <p:nvPr/>
              </p:nvSpPr>
              <p:spPr>
                <a:xfrm flipH="false" flipV="false" rot="0">
                  <a:off x="4858961" y="3049006"/>
                  <a:ext cx="3209177" cy="407361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主要市场</a:t>
                  </a:r>
                  <a:endParaRPr lang="en-US" sz="1100"/>
                </a:p>
              </p:txBody>
            </p:sp>
          </p:grp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4855837" y="2775303"/>
                <a:ext cx="1360548" cy="234926"/>
              </a:xfrm>
              <a:prstGeom prst="ellipse">
                <a:avLst/>
              </a:prstGeom>
              <a:solidFill>
                <a:srgbClr val="0066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flipH="false" flipV="false" rot="0">
              <a:off x="6143260" y="2461846"/>
              <a:ext cx="1728864" cy="3672254"/>
              <a:chOff x="4368114" y="2736526"/>
              <a:chExt cx="4884141" cy="1791346"/>
            </a:xfrm>
          </p:grpSpPr>
          <p:grpSp>
            <p:nvGrpSpPr>
              <p:cNvPr id="24" name="Group 24"/>
              <p:cNvGrpSpPr/>
              <p:nvPr/>
            </p:nvGrpSpPr>
            <p:grpSpPr>
              <a:xfrm flipH="false" flipV="false" rot="0">
                <a:off x="4368114" y="2736526"/>
                <a:ext cx="4884141" cy="1791346"/>
                <a:chOff x="4584981" y="2736526"/>
                <a:chExt cx="3648560" cy="1791346"/>
              </a:xfrm>
            </p:grpSpPr>
            <p:sp>
              <p:nvSpPr>
                <p:cNvPr id="25" name="AutoShape 25"/>
                <p:cNvSpPr/>
                <p:nvPr/>
              </p:nvSpPr>
              <p:spPr>
                <a:xfrm flipH="false" flipV="false" rot="0">
                  <a:off x="4584981" y="2736526"/>
                  <a:ext cx="3648560" cy="1791346"/>
                </a:xfrm>
                <a:prstGeom prst="roundRect">
                  <a:avLst>
                    <a:gd fmla="val 8077" name="adj"/>
                  </a:avLst>
                </a:prstGeom>
                <a:solidFill>
                  <a:srgbClr val="B059CF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TextBox 26"/>
                <p:cNvSpPr txBox="true"/>
                <p:nvPr/>
              </p:nvSpPr>
              <p:spPr>
                <a:xfrm flipH="true" flipV="false" rot="0">
                  <a:off x="4813776" y="3456368"/>
                  <a:ext cx="3209179" cy="102636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以音乐和创意短视频为核心，提供丰富滤镜和特效，激发用户创作热情。</a:t>
                  </a:r>
                  <a:endParaRPr lang="en-US" sz="1100"/>
                </a:p>
              </p:txBody>
            </p:sp>
            <p:sp>
              <p:nvSpPr>
                <p:cNvPr id="27" name="TextBox 27"/>
                <p:cNvSpPr txBox="true"/>
                <p:nvPr/>
              </p:nvSpPr>
              <p:spPr>
                <a:xfrm flipH="false" flipV="false" rot="0">
                  <a:off x="4813778" y="3049006"/>
                  <a:ext cx="3209177" cy="407361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平台特色</a:t>
                  </a:r>
                  <a:endParaRPr lang="en-US" sz="1100"/>
                </a:p>
              </p:txBody>
            </p:sp>
          </p:grp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4855838" y="2775303"/>
                <a:ext cx="1360548" cy="234926"/>
              </a:xfrm>
              <a:prstGeom prst="ellipse">
                <a:avLst/>
              </a:prstGeom>
              <a:solidFill>
                <a:srgbClr val="B059C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flipH="false" flipV="false" rot="0">
              <a:off x="7966647" y="2461846"/>
              <a:ext cx="1728864" cy="3672254"/>
              <a:chOff x="4307634" y="2736526"/>
              <a:chExt cx="4884141" cy="1791346"/>
            </a:xfrm>
          </p:grpSpPr>
          <p:grpSp>
            <p:nvGrpSpPr>
              <p:cNvPr id="30" name="Group 30"/>
              <p:cNvGrpSpPr/>
              <p:nvPr/>
            </p:nvGrpSpPr>
            <p:grpSpPr>
              <a:xfrm flipH="false" flipV="false" rot="0">
                <a:off x="4307634" y="2736526"/>
                <a:ext cx="4884141" cy="1791346"/>
                <a:chOff x="4539801" y="2736526"/>
                <a:chExt cx="3648560" cy="1791346"/>
              </a:xfrm>
            </p:grpSpPr>
            <p:sp>
              <p:nvSpPr>
                <p:cNvPr id="31" name="AutoShape 31"/>
                <p:cNvSpPr/>
                <p:nvPr/>
              </p:nvSpPr>
              <p:spPr>
                <a:xfrm flipH="false" flipV="false" rot="0">
                  <a:off x="4539801" y="2736526"/>
                  <a:ext cx="3648560" cy="1791346"/>
                </a:xfrm>
                <a:prstGeom prst="roundRect">
                  <a:avLst>
                    <a:gd fmla="val 8077" name="adj"/>
                  </a:avLst>
                </a:prstGeom>
                <a:solidFill>
                  <a:srgbClr val="33CCFF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2" name="TextBox 32"/>
                <p:cNvSpPr txBox="true"/>
                <p:nvPr/>
              </p:nvSpPr>
              <p:spPr>
                <a:xfrm flipH="true" flipV="false" rot="0">
                  <a:off x="4768596" y="3456368"/>
                  <a:ext cx="3209179" cy="102636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用户群体年轻化，18 - 35岁用户占比超70%，消费能力和创新接受度高。</a:t>
                  </a:r>
                  <a:endParaRPr lang="en-US" sz="1100"/>
                </a:p>
              </p:txBody>
            </p:sp>
            <p:sp>
              <p:nvSpPr>
                <p:cNvPr id="33" name="TextBox 33"/>
                <p:cNvSpPr txBox="true"/>
                <p:nvPr/>
              </p:nvSpPr>
              <p:spPr>
                <a:xfrm flipH="false" flipV="false" rot="0">
                  <a:off x="4768598" y="3049006"/>
                  <a:ext cx="3209177" cy="407361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用户年龄分布</a:t>
                  </a:r>
                  <a:endParaRPr lang="en-US" sz="1100"/>
                </a:p>
              </p:txBody>
            </p:sp>
          </p:grpSp>
          <p:sp>
            <p:nvSpPr>
              <p:cNvPr id="34" name="TextBox 34"/>
              <p:cNvSpPr txBox="true"/>
              <p:nvPr/>
            </p:nvSpPr>
            <p:spPr>
              <a:xfrm flipH="false" flipV="false" rot="0">
                <a:off x="4855839" y="2775303"/>
                <a:ext cx="1360548" cy="234926"/>
              </a:xfrm>
              <a:prstGeom prst="ellipse">
                <a:avLst/>
              </a:prstGeom>
              <a:solidFill>
                <a:srgbClr val="33CC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flipH="false" flipV="false" rot="0">
              <a:off x="9790036" y="2461846"/>
              <a:ext cx="1728864" cy="3672254"/>
              <a:chOff x="4247157" y="2736526"/>
              <a:chExt cx="4884142" cy="1791346"/>
            </a:xfrm>
          </p:grpSpPr>
          <p:grpSp>
            <p:nvGrpSpPr>
              <p:cNvPr id="36" name="Group 36"/>
              <p:cNvGrpSpPr/>
              <p:nvPr/>
            </p:nvGrpSpPr>
            <p:grpSpPr>
              <a:xfrm flipH="false" flipV="false" rot="0">
                <a:off x="4247157" y="2736526"/>
                <a:ext cx="4884142" cy="1791346"/>
                <a:chOff x="4494623" y="2736526"/>
                <a:chExt cx="3648560" cy="1791346"/>
              </a:xfrm>
            </p:grpSpPr>
            <p:sp>
              <p:nvSpPr>
                <p:cNvPr id="37" name="AutoShape 37"/>
                <p:cNvSpPr/>
                <p:nvPr/>
              </p:nvSpPr>
              <p:spPr>
                <a:xfrm flipH="false" flipV="false" rot="0">
                  <a:off x="4494623" y="2736526"/>
                  <a:ext cx="3648560" cy="1791346"/>
                </a:xfrm>
                <a:prstGeom prst="roundRect">
                  <a:avLst>
                    <a:gd fmla="val 8077" name="adj"/>
                  </a:avLst>
                </a:prstGeom>
                <a:solidFill>
                  <a:srgbClr val="7365DF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8" name="TextBox 38"/>
                <p:cNvSpPr txBox="true"/>
                <p:nvPr/>
              </p:nvSpPr>
              <p:spPr>
                <a:xfrm flipH="true" flipV="false" rot="0">
                  <a:off x="4723418" y="3456368"/>
                  <a:ext cx="3209179" cy="102636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t" anchorCtr="false" bIns="45720" lIns="91440" rIns="91440" rtlCol="false" tIns="45720" vert="horz" wrap="square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b="false" i="false" lang="en-US" sz="12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Regular"/>
                      <a:ea typeface="思源黑体 CN Regular"/>
                      <a:cs typeface="思源黑体 CN Regular"/>
                    </a:rPr>
                    <a:t>一二线城市用户占比较高，同时不断向三四线城市及农村地区渗透。</a:t>
                  </a:r>
                  <a:endParaRPr lang="en-US" sz="1100"/>
                </a:p>
              </p:txBody>
            </p:sp>
            <p:sp>
              <p:nvSpPr>
                <p:cNvPr id="39" name="TextBox 39"/>
                <p:cNvSpPr txBox="true"/>
                <p:nvPr/>
              </p:nvSpPr>
              <p:spPr>
                <a:xfrm flipH="false" flipV="false" rot="0">
                  <a:off x="4723420" y="3049006"/>
                  <a:ext cx="3209177" cy="407361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anchor="b" anchorCtr="false" bIns="45720" lIns="91440" rIns="91440" rtlCol="false" tIns="45720" vert="horz" wrap="square"/>
                <a:lstStyle/>
                <a:p>
                  <a:pPr algn="l">
                    <a:defRPr/>
                  </a:pPr>
                  <a:r>
                    <a:rPr b="true" i="false" lang="en-US" sz="18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用户地域分布</a:t>
                  </a:r>
                  <a:endParaRPr lang="en-US" sz="1100"/>
                </a:p>
              </p:txBody>
            </p:sp>
          </p:grpSp>
          <p:sp>
            <p:nvSpPr>
              <p:cNvPr id="40" name="TextBox 40"/>
              <p:cNvSpPr txBox="true"/>
              <p:nvPr/>
            </p:nvSpPr>
            <p:spPr>
              <a:xfrm flipH="false" flipV="false" rot="0">
                <a:off x="4855838" y="2775303"/>
                <a:ext cx="1360548" cy="234926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06</a:t>
                </a:r>
                <a:endParaRPr lang="en-US" sz="1100"/>
              </a:p>
            </p:txBody>
          </p:sp>
        </p:grpSp>
      </p:grpSp>
      <p:sp>
        <p:nvSpPr>
          <p:cNvPr id="41" name="TextBox 41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抖音平台简介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78e842e-db5a-4439-b046-4c153e0645eb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399" y="1130301"/>
            <a:ext cx="10858501" cy="4876799"/>
            <a:chOff x="660399" y="1130301"/>
            <a:chExt cx="10858501" cy="5003799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60400" y="1130301"/>
              <a:ext cx="10858500" cy="70448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注重普惠的短视频平台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660399" y="1982893"/>
              <a:ext cx="1777666" cy="4151207"/>
              <a:chOff x="660399" y="1982893"/>
              <a:chExt cx="1777666" cy="4151207"/>
            </a:xfrm>
          </p:grpSpPr>
          <p:sp>
            <p:nvSpPr>
              <p:cNvPr id="6" name="AutoShape 6"/>
              <p:cNvSpPr/>
              <p:nvPr/>
            </p:nvSpPr>
            <p:spPr>
              <a:xfrm flipH="false" flipV="false" rot="0">
                <a:off x="660400" y="2440673"/>
                <a:ext cx="1777665" cy="3693427"/>
              </a:xfrm>
              <a:prstGeom prst="roundRect">
                <a:avLst>
                  <a:gd fmla="val 3800" name="adj"/>
                </a:avLst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724136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拥有超7亿注册用户，用户群体广泛，涵盖不同年龄和地域。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24136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注册用户数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660399" y="1982893"/>
                <a:ext cx="410400" cy="410345"/>
              </a:xfrm>
              <a:prstGeom prst="roundRect">
                <a:avLst>
                  <a:gd fmla="val 10477" name="adj"/>
                </a:avLst>
              </a:prstGeom>
              <a:solidFill>
                <a:srgbClr val="7365D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flipH="false" flipV="false" rot="0">
              <a:off x="2476566" y="1982893"/>
              <a:ext cx="1777666" cy="4151207"/>
              <a:chOff x="2476566" y="1982893"/>
              <a:chExt cx="1777666" cy="4151207"/>
            </a:xfrm>
          </p:grpSpPr>
          <p:sp>
            <p:nvSpPr>
              <p:cNvPr id="11" name="AutoShape 11"/>
              <p:cNvSpPr/>
              <p:nvPr/>
            </p:nvSpPr>
            <p:spPr>
              <a:xfrm flipH="false" flipV="false" rot="0">
                <a:off x="2476567" y="2440673"/>
                <a:ext cx="1777665" cy="3693427"/>
              </a:xfrm>
              <a:prstGeom prst="roundRect">
                <a:avLst>
                  <a:gd fmla="val 3800" name="adj"/>
                </a:avLst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2540303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日活跃用户达3亿左右，用户粘性强，平台社交氛围浓厚。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2540303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日活用户数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2476566" y="1982893"/>
                <a:ext cx="410400" cy="410345"/>
              </a:xfrm>
              <a:prstGeom prst="roundRect">
                <a:avLst>
                  <a:gd fmla="val 10477" name="adj"/>
                </a:avLst>
              </a:prstGeom>
              <a:solidFill>
                <a:srgbClr val="7365D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flipH="false" flipV="false" rot="0">
              <a:off x="4292733" y="1982893"/>
              <a:ext cx="1777666" cy="4151207"/>
              <a:chOff x="4292733" y="1982893"/>
              <a:chExt cx="1777666" cy="4151207"/>
            </a:xfrm>
          </p:grpSpPr>
          <p:sp>
            <p:nvSpPr>
              <p:cNvPr id="16" name="AutoShape 16"/>
              <p:cNvSpPr/>
              <p:nvPr/>
            </p:nvSpPr>
            <p:spPr>
              <a:xfrm flipH="false" flipV="false" rot="0">
                <a:off x="4292734" y="2440673"/>
                <a:ext cx="1777665" cy="3693427"/>
              </a:xfrm>
              <a:prstGeom prst="roundRect">
                <a:avLst>
                  <a:gd fmla="val 3800" name="adj"/>
                </a:avLst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4356470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国内市场为主，深入渗透各线城市及乡村，具有强大本土影响力。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4356470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主要市场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4292733" y="1982893"/>
                <a:ext cx="410400" cy="410345"/>
              </a:xfrm>
              <a:prstGeom prst="roundRect">
                <a:avLst>
                  <a:gd fmla="val 10477" name="adj"/>
                </a:avLst>
              </a:prstGeom>
              <a:solidFill>
                <a:srgbClr val="7365D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flipH="false" flipV="false" rot="0">
              <a:off x="6108900" y="1982893"/>
              <a:ext cx="1777666" cy="4151207"/>
              <a:chOff x="6108900" y="1982893"/>
              <a:chExt cx="1777666" cy="4151207"/>
            </a:xfrm>
          </p:grpSpPr>
          <p:sp>
            <p:nvSpPr>
              <p:cNvPr id="21" name="AutoShape 21"/>
              <p:cNvSpPr/>
              <p:nvPr/>
            </p:nvSpPr>
            <p:spPr>
              <a:xfrm flipH="false" flipV="false" rot="0">
                <a:off x="6108901" y="2440673"/>
                <a:ext cx="1777665" cy="3693427"/>
              </a:xfrm>
              <a:prstGeom prst="roundRect">
                <a:avLst>
                  <a:gd fmla="val 3800" name="adj"/>
                </a:avLst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6172637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强调真实、接地气，为普通用户提供展示舞台，社区氛围融洽。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6172637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平台特色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6108900" y="1982893"/>
                <a:ext cx="410400" cy="410345"/>
              </a:xfrm>
              <a:prstGeom prst="roundRect">
                <a:avLst>
                  <a:gd fmla="val 10477" name="adj"/>
                </a:avLst>
              </a:prstGeom>
              <a:solidFill>
                <a:srgbClr val="7365D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flipH="false" flipV="false" rot="0">
              <a:off x="7925067" y="1982893"/>
              <a:ext cx="1777666" cy="4151207"/>
              <a:chOff x="7925067" y="1982893"/>
              <a:chExt cx="1777666" cy="4151207"/>
            </a:xfrm>
          </p:grpSpPr>
          <p:sp>
            <p:nvSpPr>
              <p:cNvPr id="26" name="AutoShape 26"/>
              <p:cNvSpPr/>
              <p:nvPr/>
            </p:nvSpPr>
            <p:spPr>
              <a:xfrm flipH="false" flipV="false" rot="0">
                <a:off x="7925068" y="2440673"/>
                <a:ext cx="1777665" cy="3693427"/>
              </a:xfrm>
              <a:prstGeom prst="roundRect">
                <a:avLst>
                  <a:gd fmla="val 3800" name="adj"/>
                </a:avLst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7988804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25 - 40岁用户居多，占比约60%，具备一定消费实力和生活经验。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7988804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用户年龄分布</a:t>
                </a:r>
                <a:endParaRPr lang="en-US" sz="1100"/>
              </a:p>
            </p:txBody>
          </p:sp>
          <p:sp>
            <p:nvSpPr>
              <p:cNvPr id="29" name="TextBox 29"/>
              <p:cNvSpPr txBox="true"/>
              <p:nvPr/>
            </p:nvSpPr>
            <p:spPr>
              <a:xfrm flipH="false" flipV="false" rot="0">
                <a:off x="7925067" y="1982893"/>
                <a:ext cx="410400" cy="410345"/>
              </a:xfrm>
              <a:prstGeom prst="roundRect">
                <a:avLst>
                  <a:gd fmla="val 10477" name="adj"/>
                </a:avLst>
              </a:prstGeom>
              <a:solidFill>
                <a:srgbClr val="7365D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flipH="false" flipV="false" rot="0">
              <a:off x="9741233" y="1982893"/>
              <a:ext cx="1777666" cy="4151207"/>
              <a:chOff x="9741233" y="1982893"/>
              <a:chExt cx="1777666" cy="4151207"/>
            </a:xfrm>
          </p:grpSpPr>
          <p:sp>
            <p:nvSpPr>
              <p:cNvPr id="31" name="AutoShape 31"/>
              <p:cNvSpPr/>
              <p:nvPr/>
            </p:nvSpPr>
            <p:spPr>
              <a:xfrm flipH="false" flipV="false" rot="0">
                <a:off x="9741234" y="2440673"/>
                <a:ext cx="1777665" cy="3693427"/>
              </a:xfrm>
              <a:prstGeom prst="roundRect">
                <a:avLst>
                  <a:gd fmla="val 3800" name="adj"/>
                </a:avLst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TextBox 32"/>
              <p:cNvSpPr txBox="true"/>
              <p:nvPr/>
            </p:nvSpPr>
            <p:spPr>
              <a:xfrm flipH="false" flipV="false" rot="0">
                <a:off x="9804970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三四线城市及乡村用户占比较高，市场下沉优势明显。</a:t>
                </a:r>
                <a:endParaRPr lang="en-US" sz="1100"/>
              </a:p>
            </p:txBody>
          </p:sp>
          <p:sp>
            <p:nvSpPr>
              <p:cNvPr id="33" name="TextBox 33"/>
              <p:cNvSpPr txBox="true"/>
              <p:nvPr/>
            </p:nvSpPr>
            <p:spPr>
              <a:xfrm flipH="false" flipV="false" rot="0">
                <a:off x="9804970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用户地域分布</a:t>
                </a:r>
                <a:endParaRPr lang="en-US" sz="1100"/>
              </a:p>
            </p:txBody>
          </p:sp>
          <p:sp>
            <p:nvSpPr>
              <p:cNvPr id="34" name="TextBox 34"/>
              <p:cNvSpPr txBox="true"/>
              <p:nvPr/>
            </p:nvSpPr>
            <p:spPr>
              <a:xfrm flipH="false" flipV="false" rot="0">
                <a:off x="9741233" y="1982893"/>
                <a:ext cx="410400" cy="410345"/>
              </a:xfrm>
              <a:prstGeom prst="roundRect">
                <a:avLst>
                  <a:gd fmla="val 10477" name="adj"/>
                </a:avLst>
              </a:prstGeom>
              <a:solidFill>
                <a:srgbClr val="7365D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6</a:t>
                </a:r>
                <a:endParaRPr lang="en-US" sz="1100"/>
              </a:p>
            </p:txBody>
          </p:sp>
        </p:grpSp>
      </p:grpSp>
      <p:sp>
        <p:nvSpPr>
          <p:cNvPr id="35" name="TextBox 35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快手平台简介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f870f0-1acb-452c-bfb1-bb032befdf34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400" y="1130300"/>
            <a:ext cx="10530113" cy="5003799"/>
            <a:chOff x="660400" y="1130300"/>
            <a:chExt cx="10530113" cy="5003799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60400" y="1130300"/>
              <a:ext cx="3511550" cy="500379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腾讯旗下的短视频平台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4049487" y="1504725"/>
              <a:ext cx="2380342" cy="2094818"/>
              <a:chOff x="4049487" y="1504725"/>
              <a:chExt cx="2380342" cy="2094818"/>
            </a:xfrm>
          </p:grpSpPr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4856358" y="1504725"/>
                <a:ext cx="640080" cy="640080"/>
              </a:xfrm>
              <a:prstGeom prst="ellipse">
                <a:avLst/>
              </a:prstGeom>
              <a:solidFill>
                <a:srgbClr val="BAA6F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4049487" y="2736987"/>
                <a:ext cx="2380342" cy="862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依托腾讯生态，注册用户快速增长，已达数亿规模。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4049487" y="2219645"/>
                <a:ext cx="2380342" cy="5173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注册用户数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4049487" y="3856040"/>
              <a:ext cx="2380342" cy="2147637"/>
              <a:chOff x="4049487" y="3856040"/>
              <a:chExt cx="2380342" cy="2147637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4856358" y="3856040"/>
                <a:ext cx="640080" cy="640080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4049487" y="5141121"/>
                <a:ext cx="2380342" cy="862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日活跃用户超4亿，借助社交关系链实现高效传播和互动。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4049487" y="4623779"/>
                <a:ext cx="2380342" cy="5173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日活用户数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6429829" y="1504725"/>
              <a:ext cx="2380342" cy="2094818"/>
              <a:chOff x="6429829" y="1504725"/>
              <a:chExt cx="2380342" cy="2094818"/>
            </a:xfrm>
          </p:grpSpPr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7120587" y="1504725"/>
                <a:ext cx="640080" cy="640080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6429829" y="2736987"/>
                <a:ext cx="2380342" cy="862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以国内市场为主，利用腾讯社交优势吸引海量用户。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6429829" y="2219645"/>
                <a:ext cx="2380342" cy="5173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主要市场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6429829" y="3856040"/>
              <a:ext cx="2380342" cy="2147637"/>
              <a:chOff x="6429829" y="3856040"/>
              <a:chExt cx="2380342" cy="2147637"/>
            </a:xfrm>
          </p:grpSpPr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7120587" y="3856040"/>
                <a:ext cx="640080" cy="640080"/>
              </a:xfrm>
              <a:prstGeom prst="ellipse">
                <a:avLst/>
              </a:prstGeom>
              <a:solidFill>
                <a:srgbClr val="BAA6F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6429829" y="5141121"/>
                <a:ext cx="2380342" cy="862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背靠腾讯社交体系，社交属性强，内容传播力广。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6429829" y="4623779"/>
                <a:ext cx="2380342" cy="5173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平台特色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flipH="false" flipV="false" rot="0">
              <a:off x="8810171" y="1504725"/>
              <a:ext cx="2380342" cy="2094818"/>
              <a:chOff x="8810171" y="1504725"/>
              <a:chExt cx="2380342" cy="2094818"/>
            </a:xfrm>
          </p:grpSpPr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9718644" y="1504725"/>
                <a:ext cx="640080" cy="640080"/>
              </a:xfrm>
              <a:prstGeom prst="ellipse">
                <a:avLst/>
              </a:prstGeom>
              <a:solidFill>
                <a:srgbClr val="BAA6F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8810171" y="2736987"/>
                <a:ext cx="2380342" cy="862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各年龄段用户分布较均衡，覆盖不同年龄消费群体。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8810171" y="2219645"/>
                <a:ext cx="2380342" cy="5173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用户年龄分布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flipH="false" flipV="false" rot="0">
              <a:off x="8810171" y="3856040"/>
              <a:ext cx="2380342" cy="2147637"/>
              <a:chOff x="8810171" y="3856040"/>
              <a:chExt cx="2380342" cy="2147637"/>
            </a:xfrm>
          </p:grpSpPr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9718644" y="3856040"/>
                <a:ext cx="640080" cy="640080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06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8810171" y="5141121"/>
                <a:ext cx="2380342" cy="862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覆盖全国各地区，一线城市用户占比较高，逐步向其他地区拓展。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8810171" y="4623779"/>
                <a:ext cx="2380342" cy="5173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用户地域分布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视频号平台简介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617406" y="1196839"/>
            <a:ext cx="8957187" cy="160781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48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内容生态与推荐机制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2846438" y="2804652"/>
            <a:ext cx="6499123" cy="62189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3200">
                <a:ln/>
                <a:solidFill>
                  <a:srgbClr val="FFFFF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平台内容类型与推荐方式的差异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8797d60-6821-4885-8b55-cca686511e65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399" y="1130300"/>
            <a:ext cx="10858501" cy="4536582"/>
            <a:chOff x="660399" y="1130300"/>
            <a:chExt cx="10858501" cy="4536582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60399" y="1130300"/>
              <a:ext cx="10858500" cy="66711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ctr">
                <a:lnSpc>
                  <a:spcPct val="120000"/>
                </a:lnSpc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多元化的内容生态体系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660401" y="2270088"/>
              <a:ext cx="2067188" cy="3396794"/>
              <a:chOff x="660401" y="2270088"/>
              <a:chExt cx="2067188" cy="3396794"/>
            </a:xfrm>
          </p:grpSpPr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019482" y="2270088"/>
                <a:ext cx="1349026" cy="134902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7365DF">
                      <a:alpha val="100000"/>
                      <a:lumMod val="60000"/>
                      <a:lumOff val="40000"/>
                    </a:srgbClr>
                  </a:gs>
                  <a:gs pos="50000">
                    <a:srgbClr val="7365DF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AutoShape 7"/>
              <p:cNvSpPr/>
              <p:nvPr/>
            </p:nvSpPr>
            <p:spPr>
              <a:xfrm flipH="false" flipV="false" rot="0">
                <a:off x="660402" y="5580228"/>
                <a:ext cx="2067187" cy="86654"/>
              </a:xfrm>
              <a:prstGeom prst="rect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 flipH="false" flipV="false" rot="0">
                <a:off x="660401" y="3215437"/>
                <a:ext cx="2067187" cy="2410645"/>
              </a:xfrm>
              <a:prstGeom prst="roundRect">
                <a:avLst>
                  <a:gd fmla="val 0" name="adj"/>
                </a:avLst>
              </a:prstGeom>
              <a:gradFill>
                <a:gsLst>
                  <a:gs pos="0">
                    <a:srgbClr val="7365DF">
                      <a:alpha val="0"/>
                    </a:srgbClr>
                  </a:gs>
                  <a:gs pos="100000">
                    <a:srgbClr val="0C022E">
                      <a:alpha val="14901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829398" y="4396477"/>
                <a:ext cx="1729195" cy="8994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舞蹈、音乐、美食、旅行等内容丰富多样，满足用户多元需求。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738311" y="3739022"/>
                <a:ext cx="1911366" cy="53754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7365DF">
                      <a:alpha val="100000"/>
                      <a:lumMod val="60000"/>
                      <a:lumOff val="40000"/>
                    </a:srgbClr>
                  </a:gs>
                  <a:gs pos="50000">
                    <a:srgbClr val="7365DF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5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热门内容类型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flipH="false" flipV="false" rot="0">
              <a:off x="2858229" y="2270088"/>
              <a:ext cx="2067188" cy="3396794"/>
              <a:chOff x="2858229" y="2270088"/>
              <a:chExt cx="2067188" cy="3396794"/>
            </a:xfrm>
          </p:grpSpPr>
          <p:sp>
            <p:nvSpPr>
              <p:cNvPr id="12" name="AutoShape 12"/>
              <p:cNvSpPr/>
              <p:nvPr/>
            </p:nvSpPr>
            <p:spPr>
              <a:xfrm flipH="false" flipV="false" rot="0">
                <a:off x="2858230" y="5580228"/>
                <a:ext cx="2067187" cy="86654"/>
              </a:xfrm>
              <a:prstGeom prst="rect">
                <a:avLst/>
              </a:prstGeom>
              <a:solidFill>
                <a:srgbClr val="0C022E">
                  <a:alpha val="100000"/>
                  <a:lumMod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 flipH="false" flipV="false" rot="0">
                <a:off x="2858229" y="3215437"/>
                <a:ext cx="2067187" cy="2410645"/>
              </a:xfrm>
              <a:prstGeom prst="roundRect">
                <a:avLst>
                  <a:gd fmla="val 0" name="adj"/>
                </a:avLst>
              </a:prstGeom>
              <a:gradFill>
                <a:gsLst>
                  <a:gs pos="0">
                    <a:srgbClr val="0C022E">
                      <a:alpha val="0"/>
                    </a:srgbClr>
                  </a:gs>
                  <a:gs pos="100000">
                    <a:srgbClr val="0C022E">
                      <a:alpha val="14901"/>
                      <a:lumMod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3027226" y="4396477"/>
                <a:ext cx="1729195" cy="8994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较低，提供丰富模板和工具，普通用户也能轻松创作优质视频。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2936139" y="3739022"/>
                <a:ext cx="1911366" cy="53754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C022E">
                      <a:alpha val="100000"/>
                      <a:lumMod val="60000"/>
                      <a:lumOff val="40000"/>
                    </a:srgbClr>
                  </a:gs>
                  <a:gs pos="50000">
                    <a:srgbClr val="0C022E">
                      <a:alpha val="100000"/>
                      <a:lumMod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5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内容创作门槛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3217310" y="2270088"/>
                <a:ext cx="1349026" cy="134902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C022E">
                      <a:alpha val="100000"/>
                      <a:lumMod val="60000"/>
                      <a:lumOff val="40000"/>
                    </a:srgbClr>
                  </a:gs>
                  <a:gs pos="50000">
                    <a:srgbClr val="0C022E">
                      <a:alpha val="100000"/>
                      <a:lumMod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108000" lIns="108000" rIns="108000" rtlCol="false" tIns="10800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5056057" y="2270088"/>
              <a:ext cx="2067188" cy="3396794"/>
              <a:chOff x="5056057" y="2270088"/>
              <a:chExt cx="2067188" cy="3396794"/>
            </a:xfrm>
          </p:grpSpPr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5415138" y="2270088"/>
                <a:ext cx="1349026" cy="134902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7365DF">
                      <a:alpha val="100000"/>
                      <a:lumMod val="60000"/>
                      <a:lumOff val="40000"/>
                    </a:srgbClr>
                  </a:gs>
                  <a:gs pos="50000">
                    <a:srgbClr val="7365DF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AutoShape 19"/>
              <p:cNvSpPr/>
              <p:nvPr/>
            </p:nvSpPr>
            <p:spPr>
              <a:xfrm flipH="false" flipV="false" rot="0">
                <a:off x="5056058" y="5580228"/>
                <a:ext cx="2067187" cy="86654"/>
              </a:xfrm>
              <a:prstGeom prst="rect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 flipH="false" flipV="false" rot="0">
                <a:off x="5056057" y="3215437"/>
                <a:ext cx="2067187" cy="2410645"/>
              </a:xfrm>
              <a:prstGeom prst="roundRect">
                <a:avLst>
                  <a:gd fmla="val 0" name="adj"/>
                </a:avLst>
              </a:prstGeom>
              <a:gradFill>
                <a:gsLst>
                  <a:gs pos="0">
                    <a:srgbClr val="7365DF">
                      <a:alpha val="0"/>
                    </a:srgbClr>
                  </a:gs>
                  <a:gs pos="100000">
                    <a:srgbClr val="0C022E">
                      <a:alpha val="14901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5225054" y="4396477"/>
                <a:ext cx="1729195" cy="8994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严格，运用人工智能和人工审核，确保内容合法合规。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5133967" y="3739022"/>
                <a:ext cx="1911366" cy="53754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7365DF">
                      <a:alpha val="100000"/>
                      <a:lumMod val="60000"/>
                      <a:lumOff val="40000"/>
                    </a:srgbClr>
                  </a:gs>
                  <a:gs pos="50000">
                    <a:srgbClr val="7365DF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5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内容审核机制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flipH="false" flipV="false" rot="0">
              <a:off x="7253885" y="2270088"/>
              <a:ext cx="2067188" cy="3396794"/>
              <a:chOff x="7253885" y="2270088"/>
              <a:chExt cx="2067188" cy="3396794"/>
            </a:xfrm>
          </p:grpSpPr>
          <p:sp>
            <p:nvSpPr>
              <p:cNvPr id="24" name="AutoShape 24"/>
              <p:cNvSpPr/>
              <p:nvPr/>
            </p:nvSpPr>
            <p:spPr>
              <a:xfrm flipH="false" flipV="false" rot="0">
                <a:off x="7253886" y="5580228"/>
                <a:ext cx="2067187" cy="86654"/>
              </a:xfrm>
              <a:prstGeom prst="rect">
                <a:avLst/>
              </a:prstGeom>
              <a:solidFill>
                <a:srgbClr val="0C022E">
                  <a:alpha val="100000"/>
                  <a:lumMod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 flipH="false" flipV="false" rot="0">
                <a:off x="7253885" y="3215437"/>
                <a:ext cx="2067187" cy="2410645"/>
              </a:xfrm>
              <a:prstGeom prst="roundRect">
                <a:avLst>
                  <a:gd fmla="val 0" name="adj"/>
                </a:avLst>
              </a:prstGeom>
              <a:gradFill>
                <a:gsLst>
                  <a:gs pos="0">
                    <a:srgbClr val="0C022E">
                      <a:alpha val="0"/>
                    </a:srgbClr>
                  </a:gs>
                  <a:gs pos="100000">
                    <a:srgbClr val="0C022E">
                      <a:alpha val="14901"/>
                      <a:lumMod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7422882" y="4396477"/>
                <a:ext cx="1729195" cy="8994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17000"/>
                  </a:lnSpc>
                  <a:buFont typeface="Arial"/>
                  <a:buChar char="•"/>
                  <a:defRPr/>
                </a:pPr>
                <a:r>
                  <a:rPr b="false" i="false" lang="en-US" sz="11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以算法推荐为主，结合社交分享，实现内容高效广泛传播。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7331795" y="3739022"/>
                <a:ext cx="1911366" cy="53754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C022E">
                      <a:alpha val="100000"/>
                      <a:lumMod val="60000"/>
                      <a:lumOff val="40000"/>
                    </a:srgbClr>
                  </a:gs>
                  <a:gs pos="50000">
                    <a:srgbClr val="0C022E">
                      <a:alpha val="100000"/>
                      <a:lumMod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5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内容传播方式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7612966" y="2270088"/>
                <a:ext cx="1349026" cy="134902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C022E">
                      <a:alpha val="100000"/>
                      <a:lumMod val="60000"/>
                      <a:lumOff val="40000"/>
                    </a:srgbClr>
                  </a:gs>
                  <a:gs pos="50000">
                    <a:srgbClr val="0C022E">
                      <a:alpha val="100000"/>
                      <a:lumMod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108000" lIns="108000" rIns="108000" rtlCol="false" tIns="10800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flipH="false" flipV="false" rot="0">
              <a:off x="9451712" y="2270088"/>
              <a:ext cx="2067188" cy="3396794"/>
              <a:chOff x="9451712" y="2270088"/>
              <a:chExt cx="2067188" cy="3396794"/>
            </a:xfrm>
          </p:grpSpPr>
          <p:sp>
            <p:nvSpPr>
              <p:cNvPr id="30" name="TextBox 30"/>
              <p:cNvSpPr txBox="true"/>
              <p:nvPr/>
            </p:nvSpPr>
            <p:spPr>
              <a:xfrm flipH="false" flipV="false" rot="0">
                <a:off x="9810793" y="2270088"/>
                <a:ext cx="1349026" cy="134902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7365DF">
                      <a:alpha val="100000"/>
                      <a:lumMod val="60000"/>
                      <a:lumOff val="40000"/>
                    </a:srgbClr>
                  </a:gs>
                  <a:gs pos="50000">
                    <a:srgbClr val="7365DF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31" name="AutoShape 31"/>
              <p:cNvSpPr/>
              <p:nvPr/>
            </p:nvSpPr>
            <p:spPr>
              <a:xfrm flipH="false" flipV="false" rot="0">
                <a:off x="9451713" y="5580228"/>
                <a:ext cx="2067187" cy="86654"/>
              </a:xfrm>
              <a:prstGeom prst="rect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 flipH="false" flipV="false" rot="0">
                <a:off x="9451712" y="3215437"/>
                <a:ext cx="2067187" cy="2410645"/>
              </a:xfrm>
              <a:prstGeom prst="roundRect">
                <a:avLst>
                  <a:gd fmla="val 0" name="adj"/>
                </a:avLst>
              </a:prstGeom>
              <a:gradFill>
                <a:gsLst>
                  <a:gs pos="0">
                    <a:srgbClr val="7365DF">
                      <a:alpha val="0"/>
                    </a:srgbClr>
                  </a:gs>
                  <a:gs pos="100000">
                    <a:srgbClr val="0C022E">
                      <a:alpha val="14901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3" name="TextBox 33"/>
              <p:cNvSpPr txBox="true"/>
              <p:nvPr/>
            </p:nvSpPr>
            <p:spPr>
              <a:xfrm flipH="false" flipV="false" rot="0">
                <a:off x="9620709" y="4396477"/>
                <a:ext cx="1729195" cy="8994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融合新技术，如虚拟现实、增强现实，打造新颖视听体验。</a:t>
                </a:r>
                <a:endParaRPr lang="en-US" sz="1100"/>
              </a:p>
            </p:txBody>
          </p:sp>
          <p:sp>
            <p:nvSpPr>
              <p:cNvPr id="34" name="TextBox 34"/>
              <p:cNvSpPr txBox="true"/>
              <p:nvPr/>
            </p:nvSpPr>
            <p:spPr>
              <a:xfrm flipH="false" flipV="false" rot="0">
                <a:off x="9529622" y="3739022"/>
                <a:ext cx="1911366" cy="53754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7365DF">
                      <a:alpha val="100000"/>
                      <a:lumMod val="60000"/>
                      <a:lumOff val="40000"/>
                    </a:srgbClr>
                  </a:gs>
                  <a:gs pos="50000">
                    <a:srgbClr val="7365DF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5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内容创新方向</a:t>
                </a:r>
                <a:endParaRPr lang="en-US" sz="1100"/>
              </a:p>
            </p:txBody>
          </p:sp>
        </p:grpSp>
      </p:grpSp>
      <p:sp>
        <p:nvSpPr>
          <p:cNvPr id="35" name="TextBox 35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抖音内容生态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16300ae-5658-4e94-b7eb-db23537a417a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399" y="1130300"/>
            <a:ext cx="10858500" cy="4830066"/>
            <a:chOff x="660399" y="1130300"/>
            <a:chExt cx="10858500" cy="4830066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60399" y="1130300"/>
              <a:ext cx="10858500" cy="705029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独特多元的内容生态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774700" y="2635429"/>
              <a:ext cx="2068240" cy="3324937"/>
              <a:chOff x="774700" y="2635429"/>
              <a:chExt cx="2068240" cy="3324937"/>
            </a:xfrm>
          </p:grpSpPr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199781" y="2635429"/>
                <a:ext cx="1103779" cy="914400"/>
              </a:xfrm>
              <a:custGeom>
                <a:rect b="b" l="l" r="r" t="t"/>
                <a:pathLst>
                  <a:path h="914400" w="1103779">
                    <a:moveTo>
                      <a:pt x="457200" y="0"/>
                    </a:moveTo>
                    <a:cubicBezTo>
                      <a:pt x="574208" y="0"/>
                      <a:pt x="691215" y="44637"/>
                      <a:pt x="780489" y="133911"/>
                    </a:cubicBezTo>
                    <a:lnTo>
                      <a:pt x="1103779" y="457200"/>
                    </a:lnTo>
                    <a:lnTo>
                      <a:pt x="780489" y="780489"/>
                    </a:lnTo>
                    <a:cubicBezTo>
                      <a:pt x="601941" y="959037"/>
                      <a:pt x="312459" y="959037"/>
                      <a:pt x="133911" y="780489"/>
                    </a:cubicBezTo>
                    <a:cubicBezTo>
                      <a:pt x="-44637" y="601941"/>
                      <a:pt x="-44637" y="312459"/>
                      <a:pt x="133911" y="133911"/>
                    </a:cubicBezTo>
                    <a:cubicBezTo>
                      <a:pt x="223185" y="44637"/>
                      <a:pt x="340193" y="0"/>
                      <a:pt x="457200" y="0"/>
                    </a:cubicBezTo>
                    <a:close/>
                  </a:path>
                </a:pathLst>
              </a:cu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57600" rIns="27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C022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AutoShape 7"/>
              <p:cNvSpPr/>
              <p:nvPr/>
            </p:nvSpPr>
            <p:spPr>
              <a:xfrm flipH="false" flipV="false" rot="0">
                <a:off x="2303560" y="3035479"/>
                <a:ext cx="114300" cy="114300"/>
              </a:xfrm>
              <a:prstGeom prst="ellipse">
                <a:avLst/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74700" y="3949879"/>
                <a:ext cx="2068240" cy="66846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热门内容类型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774700" y="4618341"/>
                <a:ext cx="2068240" cy="134202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生活记录、才艺展示、搞笑段子等贴近生活，充满烟火气。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flipH="false" flipV="false" rot="0">
              <a:off x="2915115" y="2635429"/>
              <a:ext cx="2068240" cy="3324937"/>
              <a:chOff x="2915115" y="2635429"/>
              <a:chExt cx="2068240" cy="3324937"/>
            </a:xfrm>
          </p:grpSpPr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3340196" y="2635429"/>
                <a:ext cx="1103779" cy="914400"/>
              </a:xfrm>
              <a:custGeom>
                <a:rect b="b" l="l" r="r" t="t"/>
                <a:pathLst>
                  <a:path h="914400" w="1103779">
                    <a:moveTo>
                      <a:pt x="457200" y="0"/>
                    </a:moveTo>
                    <a:cubicBezTo>
                      <a:pt x="574208" y="0"/>
                      <a:pt x="691215" y="44637"/>
                      <a:pt x="780489" y="133911"/>
                    </a:cubicBezTo>
                    <a:lnTo>
                      <a:pt x="1103779" y="457200"/>
                    </a:lnTo>
                    <a:lnTo>
                      <a:pt x="780489" y="780489"/>
                    </a:lnTo>
                    <a:cubicBezTo>
                      <a:pt x="601941" y="959037"/>
                      <a:pt x="312459" y="959037"/>
                      <a:pt x="133911" y="780489"/>
                    </a:cubicBezTo>
                    <a:cubicBezTo>
                      <a:pt x="-44637" y="601941"/>
                      <a:pt x="-44637" y="312459"/>
                      <a:pt x="133911" y="133911"/>
                    </a:cubicBezTo>
                    <a:cubicBezTo>
                      <a:pt x="223185" y="44637"/>
                      <a:pt x="340193" y="0"/>
                      <a:pt x="457200" y="0"/>
                    </a:cubicBezTo>
                    <a:close/>
                  </a:path>
                </a:pathLst>
              </a:cu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57600" rIns="27000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C022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 flipH="false" flipV="false" rot="0">
                <a:off x="4443975" y="3035479"/>
                <a:ext cx="114300" cy="114300"/>
              </a:xfrm>
              <a:prstGeom prst="ellipse">
                <a:avLst/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2915115" y="3949879"/>
                <a:ext cx="2068240" cy="66846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内容创作门槛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2915115" y="4618341"/>
                <a:ext cx="2068240" cy="134202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低，操作简单，鼓励普通用户分享生活点滴，参与度高。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flipH="false" flipV="false" rot="0">
              <a:off x="5055530" y="2635429"/>
              <a:ext cx="2068240" cy="3324937"/>
              <a:chOff x="5055530" y="2635429"/>
              <a:chExt cx="2068240" cy="3324937"/>
            </a:xfrm>
          </p:grpSpPr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5480611" y="2635429"/>
                <a:ext cx="1103779" cy="914400"/>
              </a:xfrm>
              <a:custGeom>
                <a:rect b="b" l="l" r="r" t="t"/>
                <a:pathLst>
                  <a:path h="914400" w="1103779">
                    <a:moveTo>
                      <a:pt x="457200" y="0"/>
                    </a:moveTo>
                    <a:cubicBezTo>
                      <a:pt x="574208" y="0"/>
                      <a:pt x="691215" y="44637"/>
                      <a:pt x="780489" y="133911"/>
                    </a:cubicBezTo>
                    <a:lnTo>
                      <a:pt x="1103779" y="457200"/>
                    </a:lnTo>
                    <a:lnTo>
                      <a:pt x="780489" y="780489"/>
                    </a:lnTo>
                    <a:cubicBezTo>
                      <a:pt x="601941" y="959037"/>
                      <a:pt x="312459" y="959037"/>
                      <a:pt x="133911" y="780489"/>
                    </a:cubicBezTo>
                    <a:cubicBezTo>
                      <a:pt x="-44637" y="601941"/>
                      <a:pt x="-44637" y="312459"/>
                      <a:pt x="133911" y="133911"/>
                    </a:cubicBezTo>
                    <a:cubicBezTo>
                      <a:pt x="223185" y="44637"/>
                      <a:pt x="340193" y="0"/>
                      <a:pt x="457200" y="0"/>
                    </a:cubicBezTo>
                    <a:close/>
                  </a:path>
                </a:pathLst>
              </a:cu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57600" rIns="27000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C022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 flipH="false" flipV="false" rot="0">
                <a:off x="6584390" y="3035479"/>
                <a:ext cx="114300" cy="114300"/>
              </a:xfrm>
              <a:prstGeom prst="ellipse">
                <a:avLst/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5055530" y="3949879"/>
                <a:ext cx="2068240" cy="66846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内容审核机制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5055530" y="4618341"/>
                <a:ext cx="2068240" cy="134202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严格，保障内容健康积极，维护良好社区环境。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flipH="false" flipV="false" rot="0">
              <a:off x="7195945" y="2635429"/>
              <a:ext cx="2068240" cy="3324937"/>
              <a:chOff x="7195945" y="2635429"/>
              <a:chExt cx="2068240" cy="3324937"/>
            </a:xfrm>
          </p:grpSpPr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7621026" y="2635429"/>
                <a:ext cx="1103779" cy="914400"/>
              </a:xfrm>
              <a:custGeom>
                <a:rect b="b" l="l" r="r" t="t"/>
                <a:pathLst>
                  <a:path h="914400" w="1103779">
                    <a:moveTo>
                      <a:pt x="457200" y="0"/>
                    </a:moveTo>
                    <a:cubicBezTo>
                      <a:pt x="574208" y="0"/>
                      <a:pt x="691215" y="44637"/>
                      <a:pt x="780489" y="133911"/>
                    </a:cubicBezTo>
                    <a:lnTo>
                      <a:pt x="1103779" y="457200"/>
                    </a:lnTo>
                    <a:lnTo>
                      <a:pt x="780489" y="780489"/>
                    </a:lnTo>
                    <a:cubicBezTo>
                      <a:pt x="601941" y="959037"/>
                      <a:pt x="312459" y="959037"/>
                      <a:pt x="133911" y="780489"/>
                    </a:cubicBezTo>
                    <a:cubicBezTo>
                      <a:pt x="-44637" y="601941"/>
                      <a:pt x="-44637" y="312459"/>
                      <a:pt x="133911" y="133911"/>
                    </a:cubicBezTo>
                    <a:cubicBezTo>
                      <a:pt x="223185" y="44637"/>
                      <a:pt x="340193" y="0"/>
                      <a:pt x="457200" y="0"/>
                    </a:cubicBezTo>
                    <a:close/>
                  </a:path>
                </a:pathLst>
              </a:cu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57600" rIns="27000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C022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AutoShape 22"/>
              <p:cNvSpPr/>
              <p:nvPr/>
            </p:nvSpPr>
            <p:spPr>
              <a:xfrm flipH="false" flipV="false" rot="0">
                <a:off x="8724805" y="3035479"/>
                <a:ext cx="114300" cy="114300"/>
              </a:xfrm>
              <a:prstGeom prst="ellipse">
                <a:avLst/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7195945" y="3949879"/>
                <a:ext cx="2068240" cy="66846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内容传播方式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7195945" y="4618341"/>
                <a:ext cx="2068240" cy="134202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基于社交关系和兴趣推荐，增强用户互动和粘性。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flipH="false" flipV="false" rot="0">
              <a:off x="9336360" y="2381236"/>
              <a:ext cx="2068240" cy="3579130"/>
              <a:chOff x="9336360" y="2381236"/>
              <a:chExt cx="2068240" cy="3579130"/>
            </a:xfrm>
          </p:grpSpPr>
          <p:sp>
            <p:nvSpPr>
              <p:cNvPr id="26" name="TextBox 26"/>
              <p:cNvSpPr txBox="true"/>
              <p:nvPr/>
            </p:nvSpPr>
            <p:spPr>
              <a:xfrm flipH="true" flipV="false" rot="0">
                <a:off x="9511751" y="2381236"/>
                <a:ext cx="1717458" cy="1422786"/>
              </a:xfrm>
              <a:custGeom>
                <a:rect b="b" l="l" r="r" t="t"/>
                <a:pathLst>
                  <a:path h="914400" w="1103779">
                    <a:moveTo>
                      <a:pt x="457200" y="0"/>
                    </a:moveTo>
                    <a:cubicBezTo>
                      <a:pt x="574208" y="0"/>
                      <a:pt x="691215" y="44637"/>
                      <a:pt x="780489" y="133911"/>
                    </a:cubicBezTo>
                    <a:lnTo>
                      <a:pt x="1103779" y="457200"/>
                    </a:lnTo>
                    <a:lnTo>
                      <a:pt x="780489" y="780489"/>
                    </a:lnTo>
                    <a:cubicBezTo>
                      <a:pt x="601941" y="959037"/>
                      <a:pt x="312459" y="959037"/>
                      <a:pt x="133911" y="780489"/>
                    </a:cubicBezTo>
                    <a:cubicBezTo>
                      <a:pt x="-44637" y="601941"/>
                      <a:pt x="-44637" y="312459"/>
                      <a:pt x="133911" y="133911"/>
                    </a:cubicBezTo>
                    <a:cubicBezTo>
                      <a:pt x="223185" y="44637"/>
                      <a:pt x="340193" y="0"/>
                      <a:pt x="457200" y="0"/>
                    </a:cubicBezTo>
                    <a:close/>
                  </a:path>
                </a:pathLst>
              </a:cu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2966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C022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9336360" y="3949879"/>
                <a:ext cx="2068240" cy="66846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内容创新方向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9336360" y="4618341"/>
                <a:ext cx="2068240" cy="134202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融合传统文化元素，打造特色内容，传承和弘扬文化。</a:t>
                </a:r>
                <a:endParaRPr lang="en-US" sz="1100"/>
              </a:p>
            </p:txBody>
          </p:sp>
          <p:sp>
            <p:nvSpPr>
              <p:cNvPr id="29" name="AutoShape 29"/>
              <p:cNvSpPr/>
              <p:nvPr/>
            </p:nvSpPr>
            <p:spPr>
              <a:xfrm flipH="false" flipV="false" rot="0">
                <a:off x="9397451" y="3035479"/>
                <a:ext cx="114300" cy="114300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30" name="TextBox 30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快手内容生态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62f03a4-10d1-4680-8cdf-d2ccf84baddc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400" y="1397000"/>
            <a:ext cx="10858500" cy="4737100"/>
            <a:chOff x="660400" y="1397000"/>
            <a:chExt cx="10858500" cy="4737100"/>
          </a:xfrm>
        </p:grpSpPr>
        <p:grpSp>
          <p:nvGrpSpPr>
            <p:cNvPr id="4" name="Group 4"/>
            <p:cNvGrpSpPr/>
            <p:nvPr/>
          </p:nvGrpSpPr>
          <p:grpSpPr>
            <a:xfrm flipH="false" flipV="false" rot="0">
              <a:off x="1076030" y="2852393"/>
              <a:ext cx="1929863" cy="3281707"/>
              <a:chOff x="1076030" y="2852393"/>
              <a:chExt cx="1929863" cy="3281707"/>
            </a:xfrm>
          </p:grpSpPr>
          <p:sp>
            <p:nvSpPr>
              <p:cNvPr id="5" name="TextBox 5"/>
              <p:cNvSpPr txBox="true"/>
              <p:nvPr/>
            </p:nvSpPr>
            <p:spPr>
              <a:xfrm flipH="false" flipV="false" rot="0">
                <a:off x="1533467" y="2852393"/>
                <a:ext cx="894926" cy="895664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01</a:t>
                </a:r>
                <a:endParaRPr lang="en-US" sz="1100"/>
              </a:p>
            </p:txBody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076030" y="3848100"/>
                <a:ext cx="1929863" cy="741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热门内容类型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1076030" y="4589656"/>
                <a:ext cx="1929863" cy="15444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新闻资讯、知识科普、生活技巧等实用性强，满足用户学习需求。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flipH="false" flipV="false" rot="0">
              <a:off x="3104850" y="2852393"/>
              <a:ext cx="1929863" cy="3281707"/>
              <a:chOff x="3104850" y="2852393"/>
              <a:chExt cx="1929863" cy="3281707"/>
            </a:xfrm>
          </p:grpSpPr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3562287" y="2852393"/>
                <a:ext cx="894926" cy="895664"/>
              </a:xfrm>
              <a:prstGeom prst="ellipse">
                <a:avLst/>
              </a:prstGeom>
              <a:solidFill>
                <a:srgbClr val="BAA6F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02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3104850" y="3848100"/>
                <a:ext cx="1929863" cy="741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内容创作门槛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3104850" y="4589656"/>
                <a:ext cx="1929863" cy="15444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中等，与社交结合紧密，利于有一定社交资源用户传播内容。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flipH="false" flipV="false" rot="0">
              <a:off x="5133669" y="2800036"/>
              <a:ext cx="1929863" cy="3334064"/>
              <a:chOff x="5133669" y="2800036"/>
              <a:chExt cx="1929863" cy="3334064"/>
            </a:xfrm>
          </p:grpSpPr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5591107" y="2800036"/>
                <a:ext cx="894926" cy="895664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03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5133669" y="3848100"/>
                <a:ext cx="1929863" cy="741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内容审核机制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5133669" y="4589656"/>
                <a:ext cx="1929863" cy="15444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严格，遵循法律法规和平台规定，确保内容安全可靠。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flipH="false" flipV="false" rot="0">
              <a:off x="7162489" y="2800036"/>
              <a:ext cx="1929863" cy="3334064"/>
              <a:chOff x="7162489" y="2800036"/>
              <a:chExt cx="1929863" cy="3334064"/>
            </a:xfrm>
          </p:grpSpPr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7619927" y="2800036"/>
                <a:ext cx="894926" cy="895664"/>
              </a:xfrm>
              <a:prstGeom prst="ellipse">
                <a:avLst/>
              </a:prstGeom>
              <a:solidFill>
                <a:srgbClr val="BAA6F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04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7162489" y="3848100"/>
                <a:ext cx="1929863" cy="741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内容传播方式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7162489" y="4589656"/>
                <a:ext cx="1929863" cy="15444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依靠社交分享和平台推荐，实现内容快速扩散和广泛覆盖。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flipH="false" flipV="false" rot="0">
              <a:off x="9191309" y="2800036"/>
              <a:ext cx="1929863" cy="3334064"/>
              <a:chOff x="9191309" y="2800036"/>
              <a:chExt cx="1929863" cy="3334064"/>
            </a:xfrm>
          </p:grpSpPr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9708777" y="2800036"/>
                <a:ext cx="894926" cy="895664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05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9191309" y="3848100"/>
                <a:ext cx="1929863" cy="741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内容创新方向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9191309" y="4589656"/>
                <a:ext cx="1929863" cy="15444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与公众号等内容形式结合，实现跨平台内容联动和互补。</a:t>
                </a:r>
                <a:endParaRPr lang="en-US" sz="1100"/>
              </a:p>
            </p:txBody>
          </p:sp>
        </p:grpSp>
        <p:sp>
          <p:nvSpPr>
            <p:cNvPr id="24" name="TextBox 24"/>
            <p:cNvSpPr txBox="true"/>
            <p:nvPr/>
          </p:nvSpPr>
          <p:spPr>
            <a:xfrm flipH="false" flipV="false" rot="0">
              <a:off x="660400" y="1397000"/>
              <a:ext cx="10858500" cy="89566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依托社交的内容生态体系</a:t>
              </a:r>
              <a:endParaRPr lang="en-US" sz="1100"/>
            </a:p>
          </p:txBody>
        </p:sp>
      </p:grpSp>
      <p:sp>
        <p:nvSpPr>
          <p:cNvPr id="25" name="TextBox 25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视频号内容生态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b194fd9-beca-4084-a7ad-e1bde95d0479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400" y="1243980"/>
            <a:ext cx="10858501" cy="4370041"/>
            <a:chOff x="660400" y="1764059"/>
            <a:chExt cx="10858501" cy="4370041"/>
          </a:xfrm>
        </p:grpSpPr>
        <p:grpSp>
          <p:nvGrpSpPr>
            <p:cNvPr id="4" name="Group 4"/>
            <p:cNvGrpSpPr/>
            <p:nvPr/>
          </p:nvGrpSpPr>
          <p:grpSpPr>
            <a:xfrm flipH="false" flipV="false" rot="0">
              <a:off x="732760" y="2720188"/>
              <a:ext cx="2073146" cy="3413912"/>
              <a:chOff x="4763055" y="549649"/>
              <a:chExt cx="2574332" cy="4239230"/>
            </a:xfrm>
          </p:grpSpPr>
          <p:sp>
            <p:nvSpPr>
              <p:cNvPr id="5" name="AutoShape 5"/>
              <p:cNvSpPr/>
              <p:nvPr/>
            </p:nvSpPr>
            <p:spPr>
              <a:xfrm flipH="false" flipV="false" rot="0">
                <a:off x="4841905" y="549649"/>
                <a:ext cx="2495482" cy="4239230"/>
              </a:xfrm>
              <a:prstGeom prst="flowChartOffpageConnector">
                <a:avLst/>
              </a:prstGeom>
              <a:solidFill>
                <a:srgbClr val="7365DF">
                  <a:alpha val="2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4962201" y="1862929"/>
                <a:ext cx="2254896" cy="10044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推荐算法原理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4962204" y="2975578"/>
                <a:ext cx="2254897" cy="1487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基于用户兴趣、行为等多维度数据分析，为用户推荐个性化内容。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4763055" y="759322"/>
                <a:ext cx="2254901" cy="710913"/>
              </a:xfrm>
              <a:prstGeom prst="homePlate">
                <a:avLst/>
              </a:prstGeom>
              <a:gradFill>
                <a:gsLst>
                  <a:gs pos="0">
                    <a:srgbClr val="7365DF">
                      <a:alpha val="100000"/>
                      <a:lumMod val="60000"/>
                      <a:lumOff val="40000"/>
                    </a:srgbClr>
                  </a:gs>
                  <a:gs pos="75000">
                    <a:srgbClr val="7365D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2896079" y="2720188"/>
              <a:ext cx="2088597" cy="3413912"/>
              <a:chOff x="4743868" y="549649"/>
              <a:chExt cx="2593519" cy="4239230"/>
            </a:xfrm>
          </p:grpSpPr>
          <p:sp>
            <p:nvSpPr>
              <p:cNvPr id="10" name="AutoShape 10"/>
              <p:cNvSpPr/>
              <p:nvPr/>
            </p:nvSpPr>
            <p:spPr>
              <a:xfrm flipH="false" flipV="false" rot="0">
                <a:off x="4841905" y="549649"/>
                <a:ext cx="2495482" cy="4239230"/>
              </a:xfrm>
              <a:prstGeom prst="flowChartOffpageConnector">
                <a:avLst/>
              </a:prstGeom>
              <a:solidFill>
                <a:srgbClr val="CC00FF">
                  <a:alpha val="2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4962204" y="1862929"/>
                <a:ext cx="2254897" cy="10044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用户兴趣标签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4962204" y="2975578"/>
                <a:ext cx="2254897" cy="1487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丰富多样，精准反映用户偏好，提升推荐内容匹配度。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4743868" y="759322"/>
                <a:ext cx="2254900" cy="710913"/>
              </a:xfrm>
              <a:prstGeom prst="homePlate">
                <a:avLst/>
              </a:prstGeom>
              <a:gradFill>
                <a:gsLst>
                  <a:gs pos="0">
                    <a:srgbClr val="CC00FF">
                      <a:alpha val="100000"/>
                      <a:lumMod val="60000"/>
                      <a:lumOff val="40000"/>
                    </a:srgbClr>
                  </a:gs>
                  <a:gs pos="75000">
                    <a:srgbClr val="CC00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5074851" y="2720188"/>
              <a:ext cx="2088597" cy="3413912"/>
              <a:chOff x="4743868" y="549651"/>
              <a:chExt cx="2593519" cy="4239230"/>
            </a:xfrm>
          </p:grpSpPr>
          <p:sp>
            <p:nvSpPr>
              <p:cNvPr id="15" name="AutoShape 15"/>
              <p:cNvSpPr/>
              <p:nvPr/>
            </p:nvSpPr>
            <p:spPr>
              <a:xfrm flipH="false" flipV="false" rot="0">
                <a:off x="4841905" y="549651"/>
                <a:ext cx="2495482" cy="4239230"/>
              </a:xfrm>
              <a:prstGeom prst="flowChartOffpageConnector">
                <a:avLst/>
              </a:prstGeom>
              <a:solidFill>
                <a:srgbClr val="0066FF">
                  <a:alpha val="2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4962204" y="1862929"/>
                <a:ext cx="2254897" cy="10044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内容分发策略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4962204" y="2975578"/>
                <a:ext cx="2254897" cy="14876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精准，新内容有机会得到曝光，优质内容获得更多推荐。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4743868" y="759322"/>
                <a:ext cx="2254900" cy="710913"/>
              </a:xfrm>
              <a:prstGeom prst="homePlate">
                <a:avLst/>
              </a:prstGeom>
              <a:gradFill>
                <a:gsLst>
                  <a:gs pos="0">
                    <a:srgbClr val="0066FF">
                      <a:alpha val="100000"/>
                      <a:lumMod val="60000"/>
                      <a:lumOff val="40000"/>
                    </a:srgbClr>
                  </a:gs>
                  <a:gs pos="75000">
                    <a:srgbClr val="0066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flipH="false" flipV="false" rot="0">
              <a:off x="7253621" y="2720191"/>
              <a:ext cx="2086508" cy="3413909"/>
              <a:chOff x="4746462" y="549649"/>
              <a:chExt cx="2590925" cy="4239229"/>
            </a:xfrm>
          </p:grpSpPr>
          <p:sp>
            <p:nvSpPr>
              <p:cNvPr id="20" name="AutoShape 20"/>
              <p:cNvSpPr/>
              <p:nvPr/>
            </p:nvSpPr>
            <p:spPr>
              <a:xfrm flipH="false" flipV="false" rot="0">
                <a:off x="4841905" y="549649"/>
                <a:ext cx="2495482" cy="4239229"/>
              </a:xfrm>
              <a:prstGeom prst="flowChartOffpageConnector">
                <a:avLst/>
              </a:prstGeom>
              <a:solidFill>
                <a:srgbClr val="B059CF">
                  <a:alpha val="2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4962204" y="1862929"/>
                <a:ext cx="2254897" cy="10044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推荐模型优化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4962204" y="2975579"/>
                <a:ext cx="2254897" cy="148762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持续进行，根据用户反馈和行为数据，不断提升推荐准确性。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4746462" y="759318"/>
                <a:ext cx="2249713" cy="710912"/>
              </a:xfrm>
              <a:prstGeom prst="homePlate">
                <a:avLst/>
              </a:prstGeom>
              <a:gradFill>
                <a:gsLst>
                  <a:gs pos="0">
                    <a:srgbClr val="B059CF">
                      <a:alpha val="100000"/>
                      <a:lumMod val="60000"/>
                      <a:lumOff val="40000"/>
                    </a:srgbClr>
                  </a:gs>
                  <a:gs pos="75000">
                    <a:srgbClr val="B059C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flipH="false" flipV="false" rot="0">
              <a:off x="9430305" y="2720191"/>
              <a:ext cx="2088596" cy="3413909"/>
              <a:chOff x="4743868" y="549649"/>
              <a:chExt cx="2593517" cy="4239229"/>
            </a:xfrm>
          </p:grpSpPr>
          <p:sp>
            <p:nvSpPr>
              <p:cNvPr id="25" name="AutoShape 25"/>
              <p:cNvSpPr/>
              <p:nvPr/>
            </p:nvSpPr>
            <p:spPr>
              <a:xfrm flipH="false" flipV="false" rot="0">
                <a:off x="4841904" y="549649"/>
                <a:ext cx="2495481" cy="4239229"/>
              </a:xfrm>
              <a:prstGeom prst="flowChartOffpageConnector">
                <a:avLst/>
              </a:prstGeom>
              <a:solidFill>
                <a:srgbClr val="33CCFF">
                  <a:alpha val="2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4962204" y="1862929"/>
                <a:ext cx="2254898" cy="10044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推荐效果评估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4962204" y="2975579"/>
                <a:ext cx="2254897" cy="148762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通过多项指标综合评估，如点击率、观看时长等，优化推荐效果。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4743868" y="759318"/>
                <a:ext cx="2254900" cy="710912"/>
              </a:xfrm>
              <a:prstGeom prst="homePlate">
                <a:avLst/>
              </a:prstGeom>
              <a:gradFill>
                <a:gsLst>
                  <a:gs pos="0">
                    <a:srgbClr val="33CCFF">
                      <a:alpha val="100000"/>
                      <a:lumMod val="60000"/>
                      <a:lumOff val="40000"/>
                    </a:srgbClr>
                  </a:gs>
                  <a:gs pos="75000">
                    <a:srgbClr val="33CC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</p:grpSp>
        <p:sp>
          <p:nvSpPr>
            <p:cNvPr id="29" name="TextBox 29"/>
            <p:cNvSpPr txBox="true"/>
            <p:nvPr/>
          </p:nvSpPr>
          <p:spPr>
            <a:xfrm flipH="false" flipV="false" rot="0">
              <a:off x="660400" y="1764059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精准高效的推荐算法</a:t>
              </a:r>
              <a:endParaRPr lang="en-US" sz="1100"/>
            </a:p>
          </p:txBody>
        </p:sp>
      </p:grpSp>
      <p:sp>
        <p:nvSpPr>
          <p:cNvPr id="30" name="TextBox 30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抖音推荐机制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7592e89-b1f7-4d52-b6b1-3a66f710108b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400" y="1243980"/>
            <a:ext cx="10858501" cy="4370041"/>
            <a:chOff x="660400" y="1243980"/>
            <a:chExt cx="10858501" cy="4370041"/>
          </a:xfrm>
        </p:grpSpPr>
        <p:sp>
          <p:nvSpPr>
            <p:cNvPr id="4" name="AutoShape 4"/>
            <p:cNvSpPr/>
            <p:nvPr/>
          </p:nvSpPr>
          <p:spPr>
            <a:xfrm flipH="false" flipV="false" rot="0">
              <a:off x="796259" y="2200109"/>
              <a:ext cx="2009647" cy="3413912"/>
            </a:xfrm>
            <a:prstGeom prst="flowChartOffpageConnector">
              <a:avLst/>
            </a:prstGeom>
            <a:solidFill>
              <a:srgbClr val="0C022E">
                <a:alpha val="100000"/>
              </a:srgbClr>
            </a:solidFill>
            <a:ln w="12700">
              <a:solidFill>
                <a:srgbClr val="7365D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732760" y="2368962"/>
              <a:ext cx="1976278" cy="2982789"/>
              <a:chOff x="732760" y="2368962"/>
              <a:chExt cx="1976278" cy="2982789"/>
            </a:xfrm>
          </p:grpSpPr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893135" y="3257712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推荐算法原理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893138" y="4153744"/>
                <a:ext cx="1815900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结合用户兴趣和社交关系，实现内容精准推送。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32760" y="2368962"/>
                <a:ext cx="1815904" cy="572508"/>
              </a:xfrm>
              <a:prstGeom prst="homePlate">
                <a:avLst/>
              </a:prstGeom>
              <a:gradFill>
                <a:gsLst>
                  <a:gs pos="0">
                    <a:srgbClr val="7365DF">
                      <a:alpha val="100000"/>
                      <a:lumMod val="60000"/>
                      <a:lumOff val="40000"/>
                    </a:srgbClr>
                  </a:gs>
                  <a:gs pos="75000">
                    <a:srgbClr val="7365D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9" name="AutoShape 9"/>
            <p:cNvSpPr/>
            <p:nvPr/>
          </p:nvSpPr>
          <p:spPr>
            <a:xfrm flipH="false" flipV="false" rot="0">
              <a:off x="2975030" y="2200109"/>
              <a:ext cx="2009646" cy="3413912"/>
            </a:xfrm>
            <a:prstGeom prst="flowChartOffpageConnector">
              <a:avLst/>
            </a:prstGeom>
            <a:solidFill>
              <a:srgbClr val="0C022E">
                <a:alpha val="100000"/>
              </a:srgbClr>
            </a:solidFill>
            <a:ln w="12700">
              <a:solidFill>
                <a:srgbClr val="7365D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 flipH="false" flipV="false" rot="0">
              <a:off x="2896079" y="2368962"/>
              <a:ext cx="1991729" cy="2982789"/>
              <a:chOff x="2896079" y="2368962"/>
              <a:chExt cx="1991729" cy="2982789"/>
            </a:xfrm>
          </p:grpSpPr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3071908" y="3257712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用户兴趣标签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3071908" y="4153744"/>
                <a:ext cx="1815900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细腻，能准确把握用户兴趣，提供个性化内容。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2896079" y="2368962"/>
                <a:ext cx="1815902" cy="572508"/>
              </a:xfrm>
              <a:prstGeom prst="homePlate">
                <a:avLst/>
              </a:prstGeom>
              <a:gradFill>
                <a:gsLst>
                  <a:gs pos="0">
                    <a:srgbClr val="CC00FF">
                      <a:alpha val="100000"/>
                      <a:lumMod val="60000"/>
                      <a:lumOff val="40000"/>
                    </a:srgbClr>
                  </a:gs>
                  <a:gs pos="75000">
                    <a:srgbClr val="CC00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14" name="AutoShape 14"/>
            <p:cNvSpPr/>
            <p:nvPr/>
          </p:nvSpPr>
          <p:spPr>
            <a:xfrm flipH="false" flipV="false" rot="0">
              <a:off x="5153802" y="2200109"/>
              <a:ext cx="2009646" cy="3413912"/>
            </a:xfrm>
            <a:prstGeom prst="flowChartOffpageConnector">
              <a:avLst/>
            </a:prstGeom>
            <a:solidFill>
              <a:srgbClr val="0C022E">
                <a:alpha val="100000"/>
              </a:srgbClr>
            </a:solidFill>
            <a:ln w="12700">
              <a:solidFill>
                <a:srgbClr val="7365D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5" name="Group 15"/>
            <p:cNvGrpSpPr/>
            <p:nvPr/>
          </p:nvGrpSpPr>
          <p:grpSpPr>
            <a:xfrm flipH="false" flipV="false" rot="0">
              <a:off x="5074851" y="2368960"/>
              <a:ext cx="1991729" cy="2982789"/>
              <a:chOff x="5074851" y="2368960"/>
              <a:chExt cx="1991729" cy="2982789"/>
            </a:xfrm>
          </p:grpSpPr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5250680" y="3257710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内容分发策略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5250680" y="4153742"/>
                <a:ext cx="1815900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普惠，给予普通用户内容更多曝光机会，促进内容多样性。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5074851" y="2368960"/>
                <a:ext cx="1815902" cy="572508"/>
              </a:xfrm>
              <a:prstGeom prst="homePlate">
                <a:avLst/>
              </a:prstGeom>
              <a:gradFill>
                <a:gsLst>
                  <a:gs pos="0">
                    <a:srgbClr val="0066FF">
                      <a:alpha val="100000"/>
                      <a:lumMod val="60000"/>
                      <a:lumOff val="40000"/>
                    </a:srgbClr>
                  </a:gs>
                  <a:gs pos="75000">
                    <a:srgbClr val="0066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19" name="AutoShape 19"/>
            <p:cNvSpPr/>
            <p:nvPr/>
          </p:nvSpPr>
          <p:spPr>
            <a:xfrm flipH="false" flipV="false" rot="0">
              <a:off x="7330483" y="2200112"/>
              <a:ext cx="2009646" cy="3413909"/>
            </a:xfrm>
            <a:prstGeom prst="flowChartOffpageConnector">
              <a:avLst/>
            </a:prstGeom>
            <a:solidFill>
              <a:srgbClr val="0C022E">
                <a:alpha val="100000"/>
              </a:srgbClr>
            </a:solidFill>
            <a:ln w="12700">
              <a:solidFill>
                <a:srgbClr val="7365D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0" name="Group 20"/>
            <p:cNvGrpSpPr/>
            <p:nvPr/>
          </p:nvGrpSpPr>
          <p:grpSpPr>
            <a:xfrm flipH="false" flipV="false" rot="0">
              <a:off x="7253621" y="2368961"/>
              <a:ext cx="1989640" cy="2982792"/>
              <a:chOff x="7253621" y="2368961"/>
              <a:chExt cx="1989640" cy="2982792"/>
            </a:xfrm>
          </p:grpSpPr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7427361" y="3257714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推荐模型优化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7427361" y="4153747"/>
                <a:ext cx="1815900" cy="11980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不断更新，适应用户需求变化和平台发展要求。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7253621" y="2368961"/>
                <a:ext cx="1811725" cy="572507"/>
              </a:xfrm>
              <a:prstGeom prst="homePlate">
                <a:avLst/>
              </a:prstGeom>
              <a:gradFill>
                <a:gsLst>
                  <a:gs pos="0">
                    <a:srgbClr val="B059CF">
                      <a:alpha val="100000"/>
                      <a:lumMod val="60000"/>
                      <a:lumOff val="40000"/>
                    </a:srgbClr>
                  </a:gs>
                  <a:gs pos="75000">
                    <a:srgbClr val="B059C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sp>
          <p:nvSpPr>
            <p:cNvPr id="24" name="AutoShape 24"/>
            <p:cNvSpPr/>
            <p:nvPr/>
          </p:nvSpPr>
          <p:spPr>
            <a:xfrm flipH="false" flipV="false" rot="0">
              <a:off x="9509255" y="2200112"/>
              <a:ext cx="2009646" cy="3413909"/>
            </a:xfrm>
            <a:prstGeom prst="flowChartOffpageConnector">
              <a:avLst/>
            </a:prstGeom>
            <a:solidFill>
              <a:srgbClr val="0C022E">
                <a:alpha val="100000"/>
              </a:srgbClr>
            </a:solidFill>
            <a:ln w="12700">
              <a:solidFill>
                <a:srgbClr val="7365D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5" name="Group 25"/>
            <p:cNvGrpSpPr/>
            <p:nvPr/>
          </p:nvGrpSpPr>
          <p:grpSpPr>
            <a:xfrm flipH="false" flipV="false" rot="0">
              <a:off x="9430305" y="2368961"/>
              <a:ext cx="1991730" cy="2982792"/>
              <a:chOff x="9430305" y="2368961"/>
              <a:chExt cx="1991730" cy="2982792"/>
            </a:xfrm>
          </p:grpSpPr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9606134" y="3257714"/>
                <a:ext cx="1815901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推荐效果评估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9606134" y="4153747"/>
                <a:ext cx="1815901" cy="11980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关注用户活跃度和粘性，优化推荐策略，提升用户体验。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9430305" y="2368961"/>
                <a:ext cx="1815903" cy="572507"/>
              </a:xfrm>
              <a:prstGeom prst="homePlate">
                <a:avLst/>
              </a:prstGeom>
              <a:gradFill>
                <a:gsLst>
                  <a:gs pos="0">
                    <a:srgbClr val="33CCFF">
                      <a:alpha val="100000"/>
                      <a:lumMod val="60000"/>
                      <a:lumOff val="40000"/>
                    </a:srgbClr>
                  </a:gs>
                  <a:gs pos="75000">
                    <a:srgbClr val="33CC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</p:grpSp>
        <p:sp>
          <p:nvSpPr>
            <p:cNvPr id="29" name="TextBox 29"/>
            <p:cNvSpPr txBox="true"/>
            <p:nvPr/>
          </p:nvSpPr>
          <p:spPr>
            <a:xfrm flipH="false" flipV="false" rot="0">
              <a:off x="660400" y="1243980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注重普惠的推荐机制</a:t>
              </a:r>
              <a:endParaRPr lang="en-US" sz="1100"/>
            </a:p>
          </p:txBody>
        </p:sp>
      </p:grpSp>
      <p:sp>
        <p:nvSpPr>
          <p:cNvPr id="30" name="TextBox 30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快手推荐机制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2ef55ff-6bd3-4648-be45-c3160fc2831a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58294" y="1141916"/>
            <a:ext cx="10860606" cy="4992184"/>
            <a:chOff x="658294" y="1141916"/>
            <a:chExt cx="10860606" cy="4992184"/>
          </a:xfrm>
        </p:grpSpPr>
        <p:sp>
          <p:nvSpPr>
            <p:cNvPr id="4" name="AutoShape 4"/>
            <p:cNvSpPr/>
            <p:nvPr/>
          </p:nvSpPr>
          <p:spPr>
            <a:xfrm flipH="false" flipV="false" rot="0">
              <a:off x="837658" y="3805377"/>
              <a:ext cx="1509799" cy="0"/>
            </a:xfrm>
            <a:prstGeom prst="line">
              <a:avLst/>
            </a:prstGeom>
            <a:ln w="12700">
              <a:solidFill>
                <a:srgbClr val="BAA6F8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3085678" y="3428185"/>
              <a:ext cx="1509799" cy="0"/>
            </a:xfrm>
            <a:prstGeom prst="line">
              <a:avLst/>
            </a:prstGeom>
            <a:ln w="12700">
              <a:solidFill>
                <a:srgbClr val="BAA6F8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5333697" y="3805377"/>
              <a:ext cx="1509799" cy="0"/>
            </a:xfrm>
            <a:prstGeom prst="line">
              <a:avLst/>
            </a:prstGeom>
            <a:ln w="12700">
              <a:solidFill>
                <a:srgbClr val="BAA6F8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7581717" y="3428185"/>
              <a:ext cx="1509799" cy="0"/>
            </a:xfrm>
            <a:prstGeom prst="line">
              <a:avLst/>
            </a:prstGeom>
            <a:ln w="12700">
              <a:solidFill>
                <a:srgbClr val="BAA6F8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9831844" y="3805377"/>
              <a:ext cx="1509799" cy="0"/>
            </a:xfrm>
            <a:prstGeom prst="line">
              <a:avLst/>
            </a:prstGeom>
            <a:ln w="12700">
              <a:solidFill>
                <a:srgbClr val="BAA6F8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 flipH="false" flipV="false" rot="0">
              <a:off x="658294" y="2748867"/>
              <a:ext cx="1866420" cy="3385233"/>
              <a:chOff x="658294" y="2748867"/>
              <a:chExt cx="1866420" cy="3385233"/>
            </a:xfrm>
          </p:grpSpPr>
          <p:sp>
            <p:nvSpPr>
              <p:cNvPr id="10" name="AutoShape 10"/>
              <p:cNvSpPr/>
              <p:nvPr/>
            </p:nvSpPr>
            <p:spPr>
              <a:xfrm flipH="false" flipV="false" rot="0">
                <a:off x="658294" y="3085408"/>
                <a:ext cx="1864312" cy="3048692"/>
              </a:xfrm>
              <a:prstGeom prst="roundRect">
                <a:avLst/>
              </a:prstGeom>
              <a:solidFill>
                <a:srgbClr val="BAA6F8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true" flipV="false" rot="0">
                <a:off x="660402" y="3232781"/>
                <a:ext cx="1864312" cy="57259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6800" lIns="180000" rIns="180000" rtlCol="false" tIns="46800" vert="horz" wrap="square"/>
              <a:lstStyle/>
              <a:p>
                <a:pPr algn="ctr">
                  <a:defRPr/>
                </a:pPr>
                <a:r>
                  <a:rPr b="true" i="false" lang="en-US" sz="17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推荐算法原理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true" flipV="false" rot="0">
                <a:off x="660400" y="3805378"/>
                <a:ext cx="1864312" cy="231781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6800" lIns="180000" rIns="180000" rtlCol="false" tIns="468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侧重社交关系，根据好友互动和兴趣推荐内容。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1350598" y="2748867"/>
                <a:ext cx="483915" cy="483914"/>
              </a:xfrm>
              <a:custGeom>
                <a:rect b="b" l="l" r="r" t="t"/>
                <a:pathLst>
                  <a:path h="19679" w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7365D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false" i="false" lang="en-US" sz="1600">
                    <a:ln/>
                    <a:solidFill>
                      <a:srgbClr val="0C022E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2893133" y="2371673"/>
              <a:ext cx="1879601" cy="3385235"/>
              <a:chOff x="2893133" y="2371673"/>
              <a:chExt cx="1879601" cy="3385235"/>
            </a:xfrm>
          </p:grpSpPr>
          <p:sp>
            <p:nvSpPr>
              <p:cNvPr id="15" name="AutoShape 15"/>
              <p:cNvSpPr/>
              <p:nvPr/>
            </p:nvSpPr>
            <p:spPr>
              <a:xfrm flipH="false" flipV="false" rot="0">
                <a:off x="2893133" y="2708216"/>
                <a:ext cx="1864312" cy="3048692"/>
              </a:xfrm>
              <a:prstGeom prst="roundRect">
                <a:avLst/>
              </a:prstGeom>
              <a:solidFill>
                <a:srgbClr val="BAA6F8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true" flipV="false" rot="0">
                <a:off x="2908422" y="2855589"/>
                <a:ext cx="1864312" cy="57259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6800" lIns="180000" rIns="180000" rtlCol="false" tIns="46800" vert="horz" wrap="square"/>
              <a:lstStyle/>
              <a:p>
                <a:pPr algn="ctr">
                  <a:defRPr/>
                </a:pPr>
                <a:r>
                  <a:rPr b="true" i="false" lang="en-US" sz="17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用户兴趣标签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true" flipV="false" rot="0">
                <a:off x="2908420" y="3428186"/>
                <a:ext cx="1864312" cy="232872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6800" lIns="180000" rIns="180000" rtlCol="false" tIns="468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与社交关系结合，丰富用户画像，提高推荐精准度。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3598618" y="2371673"/>
                <a:ext cx="483915" cy="483915"/>
              </a:xfrm>
              <a:custGeom>
                <a:rect b="b" l="l" r="r" t="t"/>
                <a:pathLst>
                  <a:path h="19679" w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BAA6F8">
                  <a:alpha val="8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false" i="false" lang="en-US" sz="1600">
                    <a:ln/>
                    <a:solidFill>
                      <a:srgbClr val="0C022E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flipH="false" flipV="false" rot="0">
              <a:off x="5154332" y="2748867"/>
              <a:ext cx="1866421" cy="3385233"/>
              <a:chOff x="5154332" y="2748867"/>
              <a:chExt cx="1866421" cy="3385233"/>
            </a:xfrm>
          </p:grpSpPr>
          <p:sp>
            <p:nvSpPr>
              <p:cNvPr id="20" name="AutoShape 20"/>
              <p:cNvSpPr/>
              <p:nvPr/>
            </p:nvSpPr>
            <p:spPr>
              <a:xfrm flipH="false" flipV="false" rot="0">
                <a:off x="5154332" y="3094929"/>
                <a:ext cx="1864312" cy="3034409"/>
              </a:xfrm>
              <a:prstGeom prst="roundRect">
                <a:avLst/>
              </a:prstGeom>
              <a:solidFill>
                <a:srgbClr val="BAA6F8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true"/>
              <p:nvPr/>
            </p:nvSpPr>
            <p:spPr>
              <a:xfrm flipH="true" flipV="false" rot="0">
                <a:off x="5156441" y="3232781"/>
                <a:ext cx="1864312" cy="57259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6800" lIns="180000" rIns="180000" rtlCol="false" tIns="46800" vert="horz" wrap="square"/>
              <a:lstStyle/>
              <a:p>
                <a:pPr algn="ctr">
                  <a:defRPr/>
                </a:pPr>
                <a:r>
                  <a:rPr b="true" i="false" lang="en-US" sz="17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内容分发策略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true" flipV="false" rot="0">
                <a:off x="5156439" y="3805378"/>
                <a:ext cx="1864312" cy="232872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6800" lIns="180000" rIns="180000" rtlCol="false" tIns="468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社交驱动，利用好友分享和互动，扩大内容传播范围。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5854042" y="2748867"/>
                <a:ext cx="483915" cy="483914"/>
              </a:xfrm>
              <a:custGeom>
                <a:rect b="b" l="l" r="r" t="t"/>
                <a:pathLst>
                  <a:path h="19679" w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7365D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false" i="false" lang="en-US" sz="1600">
                    <a:ln/>
                    <a:solidFill>
                      <a:srgbClr val="0C022E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flipH="false" flipV="false" rot="0">
              <a:off x="7395200" y="2371674"/>
              <a:ext cx="1873573" cy="3390954"/>
              <a:chOff x="7395200" y="2371674"/>
              <a:chExt cx="1873573" cy="3390954"/>
            </a:xfrm>
          </p:grpSpPr>
          <p:sp>
            <p:nvSpPr>
              <p:cNvPr id="25" name="AutoShape 25"/>
              <p:cNvSpPr/>
              <p:nvPr/>
            </p:nvSpPr>
            <p:spPr>
              <a:xfrm flipH="false" flipV="false" rot="0">
                <a:off x="7395200" y="2713936"/>
                <a:ext cx="1864312" cy="3048692"/>
              </a:xfrm>
              <a:prstGeom prst="roundRect">
                <a:avLst/>
              </a:prstGeom>
              <a:solidFill>
                <a:srgbClr val="BAA6F8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TextBox 26"/>
              <p:cNvSpPr txBox="true"/>
              <p:nvPr/>
            </p:nvSpPr>
            <p:spPr>
              <a:xfrm flipH="true" flipV="false" rot="0">
                <a:off x="7404461" y="2855589"/>
                <a:ext cx="1864312" cy="57259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6800" lIns="180000" rIns="180000" rtlCol="false" tIns="46800" vert="horz" wrap="square"/>
              <a:lstStyle/>
              <a:p>
                <a:pPr algn="ctr">
                  <a:defRPr/>
                </a:pPr>
                <a:r>
                  <a:rPr b="true" i="false" lang="en-US" sz="17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推荐模型优化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true" flipV="false" rot="0">
                <a:off x="7404459" y="3428186"/>
                <a:ext cx="1864312" cy="232872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6800" lIns="180000" rIns="180000" rtlCol="false" tIns="468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紧跟社交趋势和用户需求，优化推荐算法和效果。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8094657" y="2371674"/>
                <a:ext cx="483915" cy="483914"/>
              </a:xfrm>
              <a:custGeom>
                <a:rect b="b" l="l" r="r" t="t"/>
                <a:pathLst>
                  <a:path h="19679" w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BAA6F8">
                  <a:alpha val="8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false" i="false" lang="en-US" sz="1600">
                    <a:ln/>
                    <a:solidFill>
                      <a:srgbClr val="0C022E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flipH="false" flipV="false" rot="0">
              <a:off x="9648264" y="2748867"/>
              <a:ext cx="1870636" cy="3385233"/>
              <a:chOff x="9648264" y="2748867"/>
              <a:chExt cx="1870636" cy="3385233"/>
            </a:xfrm>
          </p:grpSpPr>
          <p:sp>
            <p:nvSpPr>
              <p:cNvPr id="30" name="AutoShape 30"/>
              <p:cNvSpPr/>
              <p:nvPr/>
            </p:nvSpPr>
            <p:spPr>
              <a:xfrm flipH="false" flipV="false" rot="0">
                <a:off x="9648264" y="3080646"/>
                <a:ext cx="1864312" cy="3034409"/>
              </a:xfrm>
              <a:prstGeom prst="roundRect">
                <a:avLst/>
              </a:prstGeom>
              <a:solidFill>
                <a:srgbClr val="BAA6F8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TextBox 31"/>
              <p:cNvSpPr txBox="true"/>
              <p:nvPr/>
            </p:nvSpPr>
            <p:spPr>
              <a:xfrm flipH="true" flipV="false" rot="0">
                <a:off x="9654588" y="3232781"/>
                <a:ext cx="1864312" cy="57259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6800" lIns="180000" rIns="180000" rtlCol="false" tIns="46800" vert="horz" wrap="square"/>
              <a:lstStyle/>
              <a:p>
                <a:pPr algn="ctr">
                  <a:defRPr/>
                </a:pPr>
                <a:r>
                  <a:rPr b="true" i="false" lang="en-US" sz="17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推荐效果评估</a:t>
                </a:r>
                <a:endParaRPr lang="en-US" sz="1100"/>
              </a:p>
            </p:txBody>
          </p:sp>
          <p:sp>
            <p:nvSpPr>
              <p:cNvPr id="32" name="TextBox 32"/>
              <p:cNvSpPr txBox="true"/>
              <p:nvPr/>
            </p:nvSpPr>
            <p:spPr>
              <a:xfrm flipH="true" flipV="false" rot="0">
                <a:off x="9654586" y="3805378"/>
                <a:ext cx="1864312" cy="232872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6800" lIns="180000" rIns="180000" rtlCol="false" tIns="468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考虑社交传播效果和用户参与度，提升内容影响力。</a:t>
                </a:r>
                <a:endParaRPr lang="en-US" sz="1100"/>
              </a:p>
            </p:txBody>
          </p:sp>
          <p:sp>
            <p:nvSpPr>
              <p:cNvPr id="33" name="TextBox 33"/>
              <p:cNvSpPr txBox="true"/>
              <p:nvPr/>
            </p:nvSpPr>
            <p:spPr>
              <a:xfrm flipH="false" flipV="false" rot="0">
                <a:off x="10357487" y="2748867"/>
                <a:ext cx="483915" cy="483914"/>
              </a:xfrm>
              <a:custGeom>
                <a:rect b="b" l="l" r="r" t="t"/>
                <a:pathLst>
                  <a:path h="19679" w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7365D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false" i="false" lang="en-US" sz="1600">
                    <a:ln/>
                    <a:solidFill>
                      <a:srgbClr val="0C022E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5</a:t>
                </a:r>
                <a:endParaRPr lang="en-US" sz="1100"/>
              </a:p>
            </p:txBody>
          </p:sp>
        </p:grpSp>
        <p:sp>
          <p:nvSpPr>
            <p:cNvPr id="34" name="TextBox 34"/>
            <p:cNvSpPr txBox="true"/>
            <p:nvPr/>
          </p:nvSpPr>
          <p:spPr>
            <a:xfrm flipH="false" flipV="false" rot="0">
              <a:off x="660400" y="1141916"/>
              <a:ext cx="10858500" cy="83482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社交驱动的推荐模式</a:t>
              </a:r>
              <a:endParaRPr lang="en-US" sz="1100"/>
            </a:p>
          </p:txBody>
        </p:sp>
      </p:grpSp>
      <p:sp>
        <p:nvSpPr>
          <p:cNvPr id="35" name="TextBox 35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视频号推荐机制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617406" y="1196839"/>
            <a:ext cx="8957187" cy="160781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48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商业化与典型案例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2846438" y="2804652"/>
            <a:ext cx="6499123" cy="62189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3200">
                <a:ln/>
                <a:solidFill>
                  <a:srgbClr val="FFFFF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平台商业化模式与成功案例剖析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25190b3-c688-4448-a14a-b7d6f0d5e3be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400" y="1130300"/>
            <a:ext cx="10858500" cy="4797476"/>
            <a:chOff x="660400" y="1130300"/>
            <a:chExt cx="10858500" cy="4797476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60400" y="1130300"/>
              <a:ext cx="10858500" cy="96612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多元化的商业化路径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660400" y="2268197"/>
              <a:ext cx="2684965" cy="1804239"/>
              <a:chOff x="660400" y="2268197"/>
              <a:chExt cx="2684965" cy="1804239"/>
            </a:xfrm>
          </p:grpSpPr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644437" y="2268197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true" lang="en-US" sz="3200">
                    <a:ln/>
                    <a:gradFill>
                      <a:gsLst>
                        <a:gs pos="0">
                          <a:srgbClr val="CC00FF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CC00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01.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660400" y="3361507"/>
                <a:ext cx="2684965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信息流广告、开屏广告等多种形式，精准投放，提升广告效果。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660400" y="2959837"/>
                <a:ext cx="2684965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广告模式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4753517" y="2266264"/>
              <a:ext cx="2684965" cy="1803919"/>
              <a:chOff x="4753517" y="2266264"/>
              <a:chExt cx="2684965" cy="1803919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5737554" y="2266264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true" lang="en-US" sz="3200">
                    <a:ln/>
                    <a:gradFill>
                      <a:gsLst>
                        <a:gs pos="0">
                          <a:srgbClr val="0066FF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0066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02.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4753517" y="3359254"/>
                <a:ext cx="2684965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与众多电商平台合作，实现流量转化和商业变现。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4753517" y="2957584"/>
                <a:ext cx="2684965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电商合作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8494429" y="2266264"/>
              <a:ext cx="2684965" cy="1803919"/>
              <a:chOff x="8494429" y="2266264"/>
              <a:chExt cx="2684965" cy="1803919"/>
            </a:xfrm>
          </p:grpSpPr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9478466" y="2266264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true" lang="en-US" sz="3200">
                    <a:ln/>
                    <a:gradFill>
                      <a:gsLst>
                        <a:gs pos="0">
                          <a:srgbClr val="FF9E5B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9E5B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03.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8494429" y="3359254"/>
                <a:ext cx="2684965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用户购买虚拟礼物打赏主播，平台与主播分成，激发创作热情。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8494429" y="2957584"/>
                <a:ext cx="2684965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直播打赏分成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660400" y="4139346"/>
              <a:ext cx="2684965" cy="1788430"/>
              <a:chOff x="660400" y="4139346"/>
              <a:chExt cx="2684965" cy="1788430"/>
            </a:xfrm>
          </p:grpSpPr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1644437" y="4139346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true" lang="en-US" sz="3200">
                    <a:ln/>
                    <a:gradFill>
                      <a:gsLst>
                        <a:gs pos="0">
                          <a:srgbClr val="33CCFF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33CC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04.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660400" y="5216847"/>
                <a:ext cx="2684965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与品牌合作推广，定制营销方案，提升品牌知名度。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660400" y="4815177"/>
                <a:ext cx="2684965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品牌合作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flipH="false" flipV="false" rot="0">
              <a:off x="8494429" y="4139345"/>
              <a:ext cx="2684965" cy="1788431"/>
              <a:chOff x="8494429" y="4139345"/>
              <a:chExt cx="2684965" cy="1788431"/>
            </a:xfrm>
          </p:grpSpPr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9478466" y="4139345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true" lang="en-US" sz="3200">
                    <a:ln/>
                    <a:gradFill>
                      <a:gsLst>
                        <a:gs pos="0">
                          <a:srgbClr val="7365DF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7365D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05.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8494429" y="5216847"/>
                <a:ext cx="2684965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推出知识付费课程，满足用户学习需求，实现知识变现。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8494429" y="4815177"/>
                <a:ext cx="2684965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知识付费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抖音商业化模式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2a26a2f-f584-40a6-8b25-869e420fc26c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0" y="1181329"/>
            <a:ext cx="12192000" cy="4952771"/>
            <a:chOff x="0" y="1181329"/>
            <a:chExt cx="12192000" cy="4952771"/>
          </a:xfrm>
        </p:grpSpPr>
        <p:sp>
          <p:nvSpPr>
            <p:cNvPr id="4" name="AutoShape 4"/>
            <p:cNvSpPr/>
            <p:nvPr/>
          </p:nvSpPr>
          <p:spPr>
            <a:xfrm flipH="false" flipV="false" rot="0">
              <a:off x="0" y="2721275"/>
              <a:ext cx="12192000" cy="0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true"/>
            <p:nvPr/>
          </p:nvSpPr>
          <p:spPr>
            <a:xfrm flipH="false" flipV="false" rot="0">
              <a:off x="660400" y="1181329"/>
              <a:ext cx="10858500" cy="654621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灵活丰富的商业化模式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flipH="false" flipV="false" rot="0">
              <a:off x="660400" y="1976802"/>
              <a:ext cx="2061544" cy="4157298"/>
              <a:chOff x="709297" y="1976802"/>
              <a:chExt cx="2061544" cy="4157298"/>
            </a:xfrm>
          </p:grpSpPr>
          <p:sp>
            <p:nvSpPr>
              <p:cNvPr id="7" name="AutoShape 7"/>
              <p:cNvSpPr/>
              <p:nvPr/>
            </p:nvSpPr>
            <p:spPr>
              <a:xfrm flipH="false" flipV="false" rot="0">
                <a:off x="1669460" y="2650666"/>
                <a:ext cx="141218" cy="141218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 flipH="false" flipV="false" rot="0">
                <a:off x="709297" y="2987212"/>
                <a:ext cx="2061544" cy="3146888"/>
              </a:xfrm>
              <a:prstGeom prst="roundRect">
                <a:avLst>
                  <a:gd fmla="val 8400" name="adj"/>
                </a:avLst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759969" y="3304300"/>
                <a:ext cx="1960201" cy="7130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广告模式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759969" y="4020360"/>
                <a:ext cx="1960201" cy="19768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原生广告、贴片广告等，融入内容，降低用户反感。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1497173" y="1976802"/>
                <a:ext cx="485792" cy="485792"/>
              </a:xfrm>
              <a:prstGeom prst="roundRect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flipH="false" flipV="false" rot="0">
              <a:off x="2859639" y="1976802"/>
              <a:ext cx="2061544" cy="4157298"/>
              <a:chOff x="3557108" y="1976802"/>
              <a:chExt cx="2061544" cy="4157298"/>
            </a:xfrm>
          </p:grpSpPr>
          <p:sp>
            <p:nvSpPr>
              <p:cNvPr id="13" name="AutoShape 13"/>
              <p:cNvSpPr/>
              <p:nvPr/>
            </p:nvSpPr>
            <p:spPr>
              <a:xfrm flipH="false" flipV="false" rot="0">
                <a:off x="4517271" y="2650666"/>
                <a:ext cx="141218" cy="141218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 flipH="false" flipV="false" rot="0">
                <a:off x="3557108" y="2987212"/>
                <a:ext cx="2061544" cy="3146888"/>
              </a:xfrm>
              <a:prstGeom prst="roundRect">
                <a:avLst>
                  <a:gd fmla="val 8400" name="adj"/>
                </a:avLst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3607780" y="4020360"/>
                <a:ext cx="1960201" cy="19768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打造快手小店，助力商家销售，实现流量变现。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3607780" y="3304300"/>
                <a:ext cx="1960201" cy="7130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电商合作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4344984" y="1976802"/>
                <a:ext cx="485792" cy="485792"/>
              </a:xfrm>
              <a:prstGeom prst="roundRect">
                <a:avLst/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flipH="false" flipV="false" rot="0">
              <a:off x="5058878" y="1976802"/>
              <a:ext cx="2061544" cy="4157298"/>
              <a:chOff x="6368229" y="1976802"/>
              <a:chExt cx="2061544" cy="4157298"/>
            </a:xfrm>
          </p:grpSpPr>
          <p:sp>
            <p:nvSpPr>
              <p:cNvPr id="19" name="AutoShape 19"/>
              <p:cNvSpPr/>
              <p:nvPr/>
            </p:nvSpPr>
            <p:spPr>
              <a:xfrm flipH="false" flipV="false" rot="0">
                <a:off x="7328392" y="2650666"/>
                <a:ext cx="141218" cy="141218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 flipH="false" flipV="false" rot="0">
                <a:off x="6368229" y="2987212"/>
                <a:ext cx="2061544" cy="3146888"/>
              </a:xfrm>
              <a:prstGeom prst="roundRect">
                <a:avLst>
                  <a:gd fmla="val 8400" name="adj"/>
                </a:avLst>
              </a:prstGeom>
              <a:solidFill>
                <a:srgbClr val="0066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6418901" y="3304300"/>
                <a:ext cx="1960201" cy="7130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直播打赏分成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6418901" y="4020360"/>
                <a:ext cx="1960201" cy="19768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用户以虚拟礼物打赏主播，平台与主播分成，促进内容创作。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7156105" y="1976802"/>
                <a:ext cx="485792" cy="485792"/>
              </a:xfrm>
              <a:prstGeom prst="roundRect">
                <a:avLst/>
              </a:prstGeom>
              <a:solidFill>
                <a:srgbClr val="0066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flipH="false" flipV="false" rot="0">
              <a:off x="7258117" y="1976802"/>
              <a:ext cx="2061544" cy="4157298"/>
              <a:chOff x="9197695" y="1976802"/>
              <a:chExt cx="2061544" cy="4157298"/>
            </a:xfrm>
          </p:grpSpPr>
          <p:sp>
            <p:nvSpPr>
              <p:cNvPr id="25" name="AutoShape 25"/>
              <p:cNvSpPr/>
              <p:nvPr/>
            </p:nvSpPr>
            <p:spPr>
              <a:xfrm flipH="false" flipV="false" rot="0">
                <a:off x="10157858" y="2650666"/>
                <a:ext cx="141218" cy="141218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/>
            </p:nvSpPr>
            <p:spPr>
              <a:xfrm flipH="false" flipV="false" rot="0">
                <a:off x="9197695" y="2987212"/>
                <a:ext cx="2061544" cy="3146888"/>
              </a:xfrm>
              <a:prstGeom prst="roundRect">
                <a:avLst>
                  <a:gd fmla="val 8400" name="adj"/>
                </a:avLst>
              </a:prstGeom>
              <a:solidFill>
                <a:srgbClr val="B059C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9248367" y="3304300"/>
                <a:ext cx="1960201" cy="7130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粉丝经济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9248367" y="4020360"/>
                <a:ext cx="1960201" cy="19768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利用粉丝经济，推出周边产品，拓展商业价值。</a:t>
                </a:r>
                <a:endParaRPr lang="en-US" sz="1100"/>
              </a:p>
            </p:txBody>
          </p:sp>
          <p:sp>
            <p:nvSpPr>
              <p:cNvPr id="29" name="TextBox 29"/>
              <p:cNvSpPr txBox="true"/>
              <p:nvPr/>
            </p:nvSpPr>
            <p:spPr>
              <a:xfrm flipH="false" flipV="false" rot="0">
                <a:off x="9985571" y="1976802"/>
                <a:ext cx="485792" cy="485792"/>
              </a:xfrm>
              <a:prstGeom prst="roundRect">
                <a:avLst/>
              </a:prstGeom>
              <a:solidFill>
                <a:srgbClr val="B059C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flipH="false" flipV="false" rot="0">
              <a:off x="9457356" y="1976802"/>
              <a:ext cx="2061544" cy="4157298"/>
              <a:chOff x="9197695" y="1976802"/>
              <a:chExt cx="2061544" cy="4157298"/>
            </a:xfrm>
          </p:grpSpPr>
          <p:sp>
            <p:nvSpPr>
              <p:cNvPr id="31" name="AutoShape 31"/>
              <p:cNvSpPr/>
              <p:nvPr/>
            </p:nvSpPr>
            <p:spPr>
              <a:xfrm flipH="false" flipV="false" rot="0">
                <a:off x="10157858" y="2650666"/>
                <a:ext cx="141218" cy="141218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 flipH="false" flipV="false" rot="0">
                <a:off x="9197695" y="2987212"/>
                <a:ext cx="2061544" cy="3146888"/>
              </a:xfrm>
              <a:prstGeom prst="roundRect">
                <a:avLst>
                  <a:gd fmla="val 8400" name="adj"/>
                </a:avLst>
              </a:prstGeom>
              <a:solidFill>
                <a:srgbClr val="20212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3" name="TextBox 33"/>
              <p:cNvSpPr txBox="true"/>
              <p:nvPr/>
            </p:nvSpPr>
            <p:spPr>
              <a:xfrm flipH="false" flipV="false" rot="0">
                <a:off x="9248367" y="3304300"/>
                <a:ext cx="1960201" cy="7130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本地服务推广</a:t>
                </a:r>
                <a:endParaRPr lang="en-US" sz="1100"/>
              </a:p>
            </p:txBody>
          </p:sp>
          <p:sp>
            <p:nvSpPr>
              <p:cNvPr id="34" name="TextBox 34"/>
              <p:cNvSpPr txBox="true"/>
              <p:nvPr/>
            </p:nvSpPr>
            <p:spPr>
              <a:xfrm flipH="false" flipV="false" rot="0">
                <a:off x="9248367" y="4020360"/>
                <a:ext cx="1960201" cy="19768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推广本地商家和服务，满足用户本地消费需求，增加商业机会。</a:t>
                </a:r>
                <a:endParaRPr lang="en-US" sz="1100"/>
              </a:p>
            </p:txBody>
          </p:sp>
          <p:sp>
            <p:nvSpPr>
              <p:cNvPr id="35" name="TextBox 35"/>
              <p:cNvSpPr txBox="true"/>
              <p:nvPr/>
            </p:nvSpPr>
            <p:spPr>
              <a:xfrm flipH="false" flipV="false" rot="0">
                <a:off x="9985571" y="1976802"/>
                <a:ext cx="485792" cy="485792"/>
              </a:xfrm>
              <a:prstGeom prst="round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36" name="TextBox 36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快手商业化模式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fffec8-9120-4039-902d-209d36c73b58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73099" y="1130300"/>
            <a:ext cx="9563101" cy="4801300"/>
            <a:chOff x="673099" y="1130300"/>
            <a:chExt cx="9563101" cy="4801300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73099" y="1130300"/>
              <a:ext cx="5329443" cy="101529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逐步完善的商业化模式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5461487" y="2065465"/>
              <a:ext cx="4774713" cy="985242"/>
              <a:chOff x="5461487" y="2065465"/>
              <a:chExt cx="4774713" cy="985242"/>
            </a:xfrm>
          </p:grpSpPr>
          <p:sp>
            <p:nvSpPr>
              <p:cNvPr id="6" name="AutoShape 6"/>
              <p:cNvSpPr/>
              <p:nvPr/>
            </p:nvSpPr>
            <p:spPr>
              <a:xfrm flipH="false" flipV="false" rot="0">
                <a:off x="5461487" y="2120841"/>
                <a:ext cx="1396025" cy="755101"/>
              </a:xfrm>
              <a:custGeom>
                <a:rect b="b" l="l" r="r" t="t"/>
                <a:pathLst>
                  <a:path h="3664858" w="6775553">
                    <a:moveTo>
                      <a:pt x="1832429" y="0"/>
                    </a:moveTo>
                    <a:cubicBezTo>
                      <a:pt x="2591446" y="0"/>
                      <a:pt x="3242679" y="461478"/>
                      <a:pt x="3520857" y="1119165"/>
                    </a:cubicBezTo>
                    <a:lnTo>
                      <a:pt x="3541502" y="1175571"/>
                    </a:lnTo>
                    <a:lnTo>
                      <a:pt x="3543956" y="1174000"/>
                    </a:lnTo>
                    <a:lnTo>
                      <a:pt x="3615719" y="1306233"/>
                    </a:lnTo>
                    <a:cubicBezTo>
                      <a:pt x="3773967" y="1540504"/>
                      <a:pt x="4041957" y="1694531"/>
                      <a:pt x="4345916" y="1694531"/>
                    </a:cubicBezTo>
                    <a:cubicBezTo>
                      <a:pt x="4611881" y="1694531"/>
                      <a:pt x="4850306" y="1576604"/>
                      <a:pt x="5011770" y="1390179"/>
                    </a:cubicBezTo>
                    <a:lnTo>
                      <a:pt x="5048596" y="1342134"/>
                    </a:lnTo>
                    <a:lnTo>
                      <a:pt x="5066082" y="1309919"/>
                    </a:lnTo>
                    <a:lnTo>
                      <a:pt x="5089552" y="1281473"/>
                    </a:lnTo>
                    <a:lnTo>
                      <a:pt x="5094681" y="1272022"/>
                    </a:lnTo>
                    <a:lnTo>
                      <a:pt x="5096253" y="1273351"/>
                    </a:lnTo>
                    <a:lnTo>
                      <a:pt x="5180197" y="1171610"/>
                    </a:lnTo>
                    <a:cubicBezTo>
                      <a:pt x="5349315" y="1002492"/>
                      <a:pt x="5582950" y="897890"/>
                      <a:pt x="5841015" y="897890"/>
                    </a:cubicBezTo>
                    <a:cubicBezTo>
                      <a:pt x="6357146" y="897890"/>
                      <a:pt x="6775553" y="1316297"/>
                      <a:pt x="6775553" y="1832428"/>
                    </a:cubicBezTo>
                    <a:cubicBezTo>
                      <a:pt x="6775553" y="2348559"/>
                      <a:pt x="6357146" y="2766966"/>
                      <a:pt x="5841015" y="2766966"/>
                    </a:cubicBezTo>
                    <a:cubicBezTo>
                      <a:pt x="5558756" y="2766966"/>
                      <a:pt x="5305723" y="2641832"/>
                      <a:pt x="5134367" y="2444014"/>
                    </a:cubicBezTo>
                    <a:lnTo>
                      <a:pt x="5092691" y="2386854"/>
                    </a:lnTo>
                    <a:lnTo>
                      <a:pt x="5090513" y="2388695"/>
                    </a:lnTo>
                    <a:lnTo>
                      <a:pt x="5080267" y="2369814"/>
                    </a:lnTo>
                    <a:lnTo>
                      <a:pt x="5046845" y="2323975"/>
                    </a:lnTo>
                    <a:lnTo>
                      <a:pt x="5011770" y="2278215"/>
                    </a:lnTo>
                    <a:cubicBezTo>
                      <a:pt x="4850306" y="2091790"/>
                      <a:pt x="4611881" y="1973862"/>
                      <a:pt x="4345916" y="1973862"/>
                    </a:cubicBezTo>
                    <a:cubicBezTo>
                      <a:pt x="4041957" y="1973863"/>
                      <a:pt x="3773967" y="2127890"/>
                      <a:pt x="3615719" y="2362160"/>
                    </a:cubicBezTo>
                    <a:lnTo>
                      <a:pt x="3548466" y="2486081"/>
                    </a:lnTo>
                    <a:lnTo>
                      <a:pt x="3544494" y="2483539"/>
                    </a:lnTo>
                    <a:lnTo>
                      <a:pt x="3533622" y="2514722"/>
                    </a:lnTo>
                    <a:cubicBezTo>
                      <a:pt x="3263004" y="3188846"/>
                      <a:pt x="2603306" y="3664858"/>
                      <a:pt x="1832429" y="3664858"/>
                    </a:cubicBezTo>
                    <a:cubicBezTo>
                      <a:pt x="820406" y="3664858"/>
                      <a:pt x="0" y="2844452"/>
                      <a:pt x="0" y="1832429"/>
                    </a:cubicBezTo>
                    <a:cubicBezTo>
                      <a:pt x="0" y="820406"/>
                      <a:pt x="820406" y="0"/>
                      <a:pt x="1832429" y="0"/>
                    </a:cubicBezTo>
                    <a:close/>
                  </a:path>
                </a:pathLst>
              </a:cu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 flipH="false" flipV="false" rot="0">
                <a:off x="5708570" y="2373736"/>
                <a:ext cx="303330" cy="249310"/>
              </a:xfrm>
              <a:custGeom>
                <a:rect b="b" l="l" r="r" t="t"/>
                <a:pathLst>
                  <a:path h="238" w="293">
                    <a:moveTo>
                      <a:pt x="293" y="28"/>
                    </a:moveTo>
                    <a:lnTo>
                      <a:pt x="293" y="28"/>
                    </a:lnTo>
                    <a:lnTo>
                      <a:pt x="285" y="32"/>
                    </a:lnTo>
                    <a:lnTo>
                      <a:pt x="277" y="34"/>
                    </a:lnTo>
                    <a:lnTo>
                      <a:pt x="267" y="36"/>
                    </a:lnTo>
                    <a:lnTo>
                      <a:pt x="259" y="38"/>
                    </a:lnTo>
                    <a:lnTo>
                      <a:pt x="259" y="38"/>
                    </a:lnTo>
                    <a:lnTo>
                      <a:pt x="267" y="31"/>
                    </a:lnTo>
                    <a:lnTo>
                      <a:pt x="275" y="24"/>
                    </a:lnTo>
                    <a:lnTo>
                      <a:pt x="281" y="14"/>
                    </a:lnTo>
                    <a:lnTo>
                      <a:pt x="285" y="4"/>
                    </a:lnTo>
                    <a:lnTo>
                      <a:pt x="285" y="4"/>
                    </a:lnTo>
                    <a:lnTo>
                      <a:pt x="277" y="9"/>
                    </a:lnTo>
                    <a:lnTo>
                      <a:pt x="266" y="13"/>
                    </a:lnTo>
                    <a:lnTo>
                      <a:pt x="257" y="16"/>
                    </a:lnTo>
                    <a:lnTo>
                      <a:pt x="247" y="18"/>
                    </a:lnTo>
                    <a:lnTo>
                      <a:pt x="247" y="18"/>
                    </a:lnTo>
                    <a:lnTo>
                      <a:pt x="237" y="11"/>
                    </a:lnTo>
                    <a:lnTo>
                      <a:pt x="227" y="5"/>
                    </a:lnTo>
                    <a:lnTo>
                      <a:pt x="222" y="3"/>
                    </a:lnTo>
                    <a:lnTo>
                      <a:pt x="216" y="1"/>
                    </a:lnTo>
                    <a:lnTo>
                      <a:pt x="209" y="0"/>
                    </a:lnTo>
                    <a:lnTo>
                      <a:pt x="203" y="0"/>
                    </a:lnTo>
                    <a:lnTo>
                      <a:pt x="203" y="0"/>
                    </a:lnTo>
                    <a:lnTo>
                      <a:pt x="197" y="0"/>
                    </a:lnTo>
                    <a:lnTo>
                      <a:pt x="191" y="1"/>
                    </a:lnTo>
                    <a:lnTo>
                      <a:pt x="179" y="5"/>
                    </a:lnTo>
                    <a:lnTo>
                      <a:pt x="169" y="10"/>
                    </a:lnTo>
                    <a:lnTo>
                      <a:pt x="161" y="17"/>
                    </a:lnTo>
                    <a:lnTo>
                      <a:pt x="154" y="27"/>
                    </a:lnTo>
                    <a:lnTo>
                      <a:pt x="147" y="37"/>
                    </a:lnTo>
                    <a:lnTo>
                      <a:pt x="144" y="48"/>
                    </a:lnTo>
                    <a:lnTo>
                      <a:pt x="143" y="54"/>
                    </a:lnTo>
                    <a:lnTo>
                      <a:pt x="143" y="60"/>
                    </a:lnTo>
                    <a:lnTo>
                      <a:pt x="143" y="60"/>
                    </a:lnTo>
                    <a:lnTo>
                      <a:pt x="143" y="67"/>
                    </a:lnTo>
                    <a:lnTo>
                      <a:pt x="144" y="74"/>
                    </a:lnTo>
                    <a:lnTo>
                      <a:pt x="144" y="74"/>
                    </a:lnTo>
                    <a:lnTo>
                      <a:pt x="126" y="72"/>
                    </a:lnTo>
                    <a:lnTo>
                      <a:pt x="108" y="68"/>
                    </a:lnTo>
                    <a:lnTo>
                      <a:pt x="92" y="63"/>
                    </a:lnTo>
                    <a:lnTo>
                      <a:pt x="75" y="55"/>
                    </a:lnTo>
                    <a:lnTo>
                      <a:pt x="59" y="46"/>
                    </a:lnTo>
                    <a:lnTo>
                      <a:pt x="45" y="36"/>
                    </a:lnTo>
                    <a:lnTo>
                      <a:pt x="33" y="24"/>
                    </a:lnTo>
                    <a:lnTo>
                      <a:pt x="20" y="11"/>
                    </a:lnTo>
                    <a:lnTo>
                      <a:pt x="20" y="11"/>
                    </a:lnTo>
                    <a:lnTo>
                      <a:pt x="17" y="17"/>
                    </a:lnTo>
                    <a:lnTo>
                      <a:pt x="15" y="26"/>
                    </a:lnTo>
                    <a:lnTo>
                      <a:pt x="13" y="33"/>
                    </a:lnTo>
                    <a:lnTo>
                      <a:pt x="12" y="41"/>
                    </a:lnTo>
                    <a:lnTo>
                      <a:pt x="12" y="41"/>
                    </a:lnTo>
                    <a:lnTo>
                      <a:pt x="13" y="48"/>
                    </a:lnTo>
                    <a:lnTo>
                      <a:pt x="14" y="57"/>
                    </a:lnTo>
                    <a:lnTo>
                      <a:pt x="17" y="63"/>
                    </a:lnTo>
                    <a:lnTo>
                      <a:pt x="20" y="70"/>
                    </a:lnTo>
                    <a:lnTo>
                      <a:pt x="23" y="76"/>
                    </a:lnTo>
                    <a:lnTo>
                      <a:pt x="28" y="81"/>
                    </a:lnTo>
                    <a:lnTo>
                      <a:pt x="34" y="87"/>
                    </a:lnTo>
                    <a:lnTo>
                      <a:pt x="39" y="91"/>
                    </a:lnTo>
                    <a:lnTo>
                      <a:pt x="39" y="91"/>
                    </a:lnTo>
                    <a:lnTo>
                      <a:pt x="32" y="91"/>
                    </a:lnTo>
                    <a:lnTo>
                      <a:pt x="25" y="89"/>
                    </a:lnTo>
                    <a:lnTo>
                      <a:pt x="18" y="87"/>
                    </a:lnTo>
                    <a:lnTo>
                      <a:pt x="12" y="84"/>
                    </a:lnTo>
                    <a:lnTo>
                      <a:pt x="12" y="84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3" y="95"/>
                    </a:lnTo>
                    <a:lnTo>
                      <a:pt x="16" y="105"/>
                    </a:lnTo>
                    <a:lnTo>
                      <a:pt x="20" y="115"/>
                    </a:lnTo>
                    <a:lnTo>
                      <a:pt x="25" y="123"/>
                    </a:lnTo>
                    <a:lnTo>
                      <a:pt x="33" y="130"/>
                    </a:lnTo>
                    <a:lnTo>
                      <a:pt x="41" y="136"/>
                    </a:lnTo>
                    <a:lnTo>
                      <a:pt x="50" y="140"/>
                    </a:lnTo>
                    <a:lnTo>
                      <a:pt x="60" y="143"/>
                    </a:lnTo>
                    <a:lnTo>
                      <a:pt x="60" y="143"/>
                    </a:lnTo>
                    <a:lnTo>
                      <a:pt x="52" y="145"/>
                    </a:lnTo>
                    <a:lnTo>
                      <a:pt x="44" y="146"/>
                    </a:lnTo>
                    <a:lnTo>
                      <a:pt x="44" y="146"/>
                    </a:lnTo>
                    <a:lnTo>
                      <a:pt x="33" y="145"/>
                    </a:lnTo>
                    <a:lnTo>
                      <a:pt x="33" y="145"/>
                    </a:lnTo>
                    <a:lnTo>
                      <a:pt x="37" y="153"/>
                    </a:lnTo>
                    <a:lnTo>
                      <a:pt x="41" y="161"/>
                    </a:lnTo>
                    <a:lnTo>
                      <a:pt x="47" y="168"/>
                    </a:lnTo>
                    <a:lnTo>
                      <a:pt x="54" y="175"/>
                    </a:lnTo>
                    <a:lnTo>
                      <a:pt x="62" y="179"/>
                    </a:lnTo>
                    <a:lnTo>
                      <a:pt x="71" y="183"/>
                    </a:lnTo>
                    <a:lnTo>
                      <a:pt x="79" y="185"/>
                    </a:lnTo>
                    <a:lnTo>
                      <a:pt x="89" y="186"/>
                    </a:lnTo>
                    <a:lnTo>
                      <a:pt x="89" y="186"/>
                    </a:lnTo>
                    <a:lnTo>
                      <a:pt x="81" y="192"/>
                    </a:lnTo>
                    <a:lnTo>
                      <a:pt x="73" y="197"/>
                    </a:lnTo>
                    <a:lnTo>
                      <a:pt x="64" y="201"/>
                    </a:lnTo>
                    <a:lnTo>
                      <a:pt x="54" y="206"/>
                    </a:lnTo>
                    <a:lnTo>
                      <a:pt x="45" y="208"/>
                    </a:lnTo>
                    <a:lnTo>
                      <a:pt x="35" y="210"/>
                    </a:lnTo>
                    <a:lnTo>
                      <a:pt x="25" y="212"/>
                    </a:lnTo>
                    <a:lnTo>
                      <a:pt x="14" y="212"/>
                    </a:lnTo>
                    <a:lnTo>
                      <a:pt x="14" y="212"/>
                    </a:lnTo>
                    <a:lnTo>
                      <a:pt x="0" y="211"/>
                    </a:lnTo>
                    <a:lnTo>
                      <a:pt x="0" y="211"/>
                    </a:lnTo>
                    <a:lnTo>
                      <a:pt x="10" y="217"/>
                    </a:lnTo>
                    <a:lnTo>
                      <a:pt x="21" y="222"/>
                    </a:lnTo>
                    <a:lnTo>
                      <a:pt x="32" y="227"/>
                    </a:lnTo>
                    <a:lnTo>
                      <a:pt x="44" y="231"/>
                    </a:lnTo>
                    <a:lnTo>
                      <a:pt x="55" y="235"/>
                    </a:lnTo>
                    <a:lnTo>
                      <a:pt x="68" y="237"/>
                    </a:lnTo>
                    <a:lnTo>
                      <a:pt x="80" y="238"/>
                    </a:lnTo>
                    <a:lnTo>
                      <a:pt x="93" y="238"/>
                    </a:lnTo>
                    <a:lnTo>
                      <a:pt x="93" y="238"/>
                    </a:lnTo>
                    <a:lnTo>
                      <a:pt x="112" y="237"/>
                    </a:lnTo>
                    <a:lnTo>
                      <a:pt x="132" y="233"/>
                    </a:lnTo>
                    <a:lnTo>
                      <a:pt x="149" y="229"/>
                    </a:lnTo>
                    <a:lnTo>
                      <a:pt x="166" y="222"/>
                    </a:lnTo>
                    <a:lnTo>
                      <a:pt x="180" y="215"/>
                    </a:lnTo>
                    <a:lnTo>
                      <a:pt x="195" y="205"/>
                    </a:lnTo>
                    <a:lnTo>
                      <a:pt x="207" y="194"/>
                    </a:lnTo>
                    <a:lnTo>
                      <a:pt x="220" y="183"/>
                    </a:lnTo>
                    <a:lnTo>
                      <a:pt x="229" y="169"/>
                    </a:lnTo>
                    <a:lnTo>
                      <a:pt x="238" y="156"/>
                    </a:lnTo>
                    <a:lnTo>
                      <a:pt x="246" y="141"/>
                    </a:lnTo>
                    <a:lnTo>
                      <a:pt x="252" y="127"/>
                    </a:lnTo>
                    <a:lnTo>
                      <a:pt x="257" y="112"/>
                    </a:lnTo>
                    <a:lnTo>
                      <a:pt x="260" y="97"/>
                    </a:lnTo>
                    <a:lnTo>
                      <a:pt x="262" y="82"/>
                    </a:lnTo>
                    <a:lnTo>
                      <a:pt x="263" y="67"/>
                    </a:lnTo>
                    <a:lnTo>
                      <a:pt x="263" y="67"/>
                    </a:lnTo>
                    <a:lnTo>
                      <a:pt x="263" y="59"/>
                    </a:lnTo>
                    <a:lnTo>
                      <a:pt x="263" y="59"/>
                    </a:lnTo>
                    <a:lnTo>
                      <a:pt x="271" y="52"/>
                    </a:lnTo>
                    <a:lnTo>
                      <a:pt x="280" y="45"/>
                    </a:lnTo>
                    <a:lnTo>
                      <a:pt x="287" y="37"/>
                    </a:lnTo>
                    <a:lnTo>
                      <a:pt x="293" y="28"/>
                    </a:lnTo>
                    <a:lnTo>
                      <a:pt x="293" y="2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6527182" y="2330483"/>
                <a:ext cx="259092" cy="33581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9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true" flipV="false" rot="0">
                <a:off x="6857514" y="2471325"/>
                <a:ext cx="3378682" cy="5793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信息流广告、公众号广告等，利用社交传播实现品牌曝光。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true" flipV="false" rot="0">
                <a:off x="6857518" y="2065465"/>
                <a:ext cx="3378682" cy="4058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广告模式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flipH="false" flipV="false" rot="0">
              <a:off x="2082800" y="2785688"/>
              <a:ext cx="4774712" cy="985242"/>
              <a:chOff x="2082800" y="2785688"/>
              <a:chExt cx="4774712" cy="985242"/>
            </a:xfrm>
          </p:grpSpPr>
          <p:sp>
            <p:nvSpPr>
              <p:cNvPr id="12" name="AutoShape 12"/>
              <p:cNvSpPr/>
              <p:nvPr/>
            </p:nvSpPr>
            <p:spPr>
              <a:xfrm flipH="true" flipV="false" rot="0">
                <a:off x="5461487" y="2841064"/>
                <a:ext cx="1396025" cy="755101"/>
              </a:xfrm>
              <a:custGeom>
                <a:rect b="b" l="l" r="r" t="t"/>
                <a:pathLst>
                  <a:path h="3664858" w="6775553">
                    <a:moveTo>
                      <a:pt x="1832429" y="0"/>
                    </a:moveTo>
                    <a:cubicBezTo>
                      <a:pt x="2591446" y="0"/>
                      <a:pt x="3242679" y="461478"/>
                      <a:pt x="3520857" y="1119165"/>
                    </a:cubicBezTo>
                    <a:lnTo>
                      <a:pt x="3541502" y="1175571"/>
                    </a:lnTo>
                    <a:lnTo>
                      <a:pt x="3543956" y="1174000"/>
                    </a:lnTo>
                    <a:lnTo>
                      <a:pt x="3615719" y="1306233"/>
                    </a:lnTo>
                    <a:cubicBezTo>
                      <a:pt x="3773967" y="1540504"/>
                      <a:pt x="4041957" y="1694531"/>
                      <a:pt x="4345916" y="1694531"/>
                    </a:cubicBezTo>
                    <a:cubicBezTo>
                      <a:pt x="4611881" y="1694531"/>
                      <a:pt x="4850306" y="1576604"/>
                      <a:pt x="5011770" y="1390179"/>
                    </a:cubicBezTo>
                    <a:lnTo>
                      <a:pt x="5048596" y="1342134"/>
                    </a:lnTo>
                    <a:lnTo>
                      <a:pt x="5066082" y="1309919"/>
                    </a:lnTo>
                    <a:lnTo>
                      <a:pt x="5089552" y="1281473"/>
                    </a:lnTo>
                    <a:lnTo>
                      <a:pt x="5094681" y="1272022"/>
                    </a:lnTo>
                    <a:lnTo>
                      <a:pt x="5096253" y="1273351"/>
                    </a:lnTo>
                    <a:lnTo>
                      <a:pt x="5180197" y="1171610"/>
                    </a:lnTo>
                    <a:cubicBezTo>
                      <a:pt x="5349315" y="1002492"/>
                      <a:pt x="5582950" y="897890"/>
                      <a:pt x="5841015" y="897890"/>
                    </a:cubicBezTo>
                    <a:cubicBezTo>
                      <a:pt x="6357146" y="897890"/>
                      <a:pt x="6775553" y="1316297"/>
                      <a:pt x="6775553" y="1832428"/>
                    </a:cubicBezTo>
                    <a:cubicBezTo>
                      <a:pt x="6775553" y="2348559"/>
                      <a:pt x="6357146" y="2766966"/>
                      <a:pt x="5841015" y="2766966"/>
                    </a:cubicBezTo>
                    <a:cubicBezTo>
                      <a:pt x="5558756" y="2766966"/>
                      <a:pt x="5305723" y="2641832"/>
                      <a:pt x="5134367" y="2444014"/>
                    </a:cubicBezTo>
                    <a:lnTo>
                      <a:pt x="5092691" y="2386854"/>
                    </a:lnTo>
                    <a:lnTo>
                      <a:pt x="5090513" y="2388695"/>
                    </a:lnTo>
                    <a:lnTo>
                      <a:pt x="5080267" y="2369814"/>
                    </a:lnTo>
                    <a:lnTo>
                      <a:pt x="5046845" y="2323975"/>
                    </a:lnTo>
                    <a:lnTo>
                      <a:pt x="5011770" y="2278215"/>
                    </a:lnTo>
                    <a:cubicBezTo>
                      <a:pt x="4850306" y="2091790"/>
                      <a:pt x="4611881" y="1973862"/>
                      <a:pt x="4345916" y="1973862"/>
                    </a:cubicBezTo>
                    <a:cubicBezTo>
                      <a:pt x="4041957" y="1973863"/>
                      <a:pt x="3773967" y="2127890"/>
                      <a:pt x="3615719" y="2362160"/>
                    </a:cubicBezTo>
                    <a:lnTo>
                      <a:pt x="3548466" y="2486081"/>
                    </a:lnTo>
                    <a:lnTo>
                      <a:pt x="3544494" y="2483539"/>
                    </a:lnTo>
                    <a:lnTo>
                      <a:pt x="3533622" y="2514722"/>
                    </a:lnTo>
                    <a:cubicBezTo>
                      <a:pt x="3263004" y="3188846"/>
                      <a:pt x="2603306" y="3664858"/>
                      <a:pt x="1832429" y="3664858"/>
                    </a:cubicBezTo>
                    <a:cubicBezTo>
                      <a:pt x="820406" y="3664858"/>
                      <a:pt x="0" y="2844452"/>
                      <a:pt x="0" y="1832429"/>
                    </a:cubicBezTo>
                    <a:cubicBezTo>
                      <a:pt x="0" y="820406"/>
                      <a:pt x="820406" y="0"/>
                      <a:pt x="1832429" y="0"/>
                    </a:cubicBezTo>
                    <a:close/>
                  </a:path>
                </a:pathLst>
              </a:cu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 flipH="false" flipV="false" rot="0">
                <a:off x="6307099" y="3067179"/>
                <a:ext cx="303330" cy="302872"/>
              </a:xfrm>
              <a:custGeom>
                <a:rect b="b" l="l" r="r" t="t"/>
                <a:pathLst>
                  <a:path h="606651" w="607568">
                    <a:moveTo>
                      <a:pt x="301896" y="255870"/>
                    </a:moveTo>
                    <a:cubicBezTo>
                      <a:pt x="453782" y="372942"/>
                      <a:pt x="455287" y="462662"/>
                      <a:pt x="455129" y="470646"/>
                    </a:cubicBezTo>
                    <a:cubicBezTo>
                      <a:pt x="415059" y="506771"/>
                      <a:pt x="362001" y="528747"/>
                      <a:pt x="303797" y="528747"/>
                    </a:cubicBezTo>
                    <a:cubicBezTo>
                      <a:pt x="243771" y="528747"/>
                      <a:pt x="189209" y="505269"/>
                      <a:pt x="148822" y="467168"/>
                    </a:cubicBezTo>
                    <a:cubicBezTo>
                      <a:pt x="149772" y="447959"/>
                      <a:pt x="162363" y="363456"/>
                      <a:pt x="301896" y="255870"/>
                    </a:cubicBezTo>
                    <a:close/>
                    <a:moveTo>
                      <a:pt x="150667" y="137673"/>
                    </a:moveTo>
                    <a:cubicBezTo>
                      <a:pt x="163495" y="146369"/>
                      <a:pt x="239593" y="173722"/>
                      <a:pt x="245215" y="204790"/>
                    </a:cubicBezTo>
                    <a:cubicBezTo>
                      <a:pt x="245215" y="204790"/>
                      <a:pt x="94287" y="351278"/>
                      <a:pt x="145124" y="463615"/>
                    </a:cubicBezTo>
                    <a:cubicBezTo>
                      <a:pt x="103710" y="422744"/>
                      <a:pt x="77975" y="366062"/>
                      <a:pt x="77975" y="303292"/>
                    </a:cubicBezTo>
                    <a:cubicBezTo>
                      <a:pt x="77975" y="237835"/>
                      <a:pt x="106007" y="178860"/>
                      <a:pt x="150667" y="137673"/>
                    </a:cubicBezTo>
                    <a:close/>
                    <a:moveTo>
                      <a:pt x="455027" y="135980"/>
                    </a:moveTo>
                    <a:cubicBezTo>
                      <a:pt x="500780" y="177241"/>
                      <a:pt x="529593" y="236919"/>
                      <a:pt x="529593" y="303316"/>
                    </a:cubicBezTo>
                    <a:cubicBezTo>
                      <a:pt x="529593" y="369476"/>
                      <a:pt x="501017" y="428996"/>
                      <a:pt x="455581" y="470178"/>
                    </a:cubicBezTo>
                    <a:cubicBezTo>
                      <a:pt x="515582" y="357066"/>
                      <a:pt x="358613" y="204827"/>
                      <a:pt x="358613" y="204827"/>
                    </a:cubicBezTo>
                    <a:cubicBezTo>
                      <a:pt x="364787" y="171155"/>
                      <a:pt x="453523" y="141908"/>
                      <a:pt x="455027" y="135980"/>
                    </a:cubicBezTo>
                    <a:close/>
                    <a:moveTo>
                      <a:pt x="303794" y="77834"/>
                    </a:moveTo>
                    <a:cubicBezTo>
                      <a:pt x="355573" y="77834"/>
                      <a:pt x="403234" y="95311"/>
                      <a:pt x="441316" y="124572"/>
                    </a:cubicBezTo>
                    <a:cubicBezTo>
                      <a:pt x="364361" y="108281"/>
                      <a:pt x="312028" y="142049"/>
                      <a:pt x="301894" y="149246"/>
                    </a:cubicBezTo>
                    <a:cubicBezTo>
                      <a:pt x="292077" y="142208"/>
                      <a:pt x="241644" y="109784"/>
                      <a:pt x="167381" y="123702"/>
                    </a:cubicBezTo>
                    <a:cubicBezTo>
                      <a:pt x="205304" y="94995"/>
                      <a:pt x="252570" y="77834"/>
                      <a:pt x="303794" y="77834"/>
                    </a:cubicBezTo>
                    <a:close/>
                    <a:moveTo>
                      <a:pt x="303784" y="32254"/>
                    </a:moveTo>
                    <a:cubicBezTo>
                      <a:pt x="154069" y="32254"/>
                      <a:pt x="32302" y="153837"/>
                      <a:pt x="32302" y="303325"/>
                    </a:cubicBezTo>
                    <a:cubicBezTo>
                      <a:pt x="32302" y="452814"/>
                      <a:pt x="154069" y="574397"/>
                      <a:pt x="303784" y="574397"/>
                    </a:cubicBezTo>
                    <a:cubicBezTo>
                      <a:pt x="453499" y="574397"/>
                      <a:pt x="575266" y="452814"/>
                      <a:pt x="575266" y="303325"/>
                    </a:cubicBezTo>
                    <a:cubicBezTo>
                      <a:pt x="575266" y="153837"/>
                      <a:pt x="453499" y="32254"/>
                      <a:pt x="303784" y="32254"/>
                    </a:cubicBezTo>
                    <a:close/>
                    <a:moveTo>
                      <a:pt x="303784" y="0"/>
                    </a:moveTo>
                    <a:cubicBezTo>
                      <a:pt x="471313" y="0"/>
                      <a:pt x="607568" y="136050"/>
                      <a:pt x="607568" y="303325"/>
                    </a:cubicBezTo>
                    <a:cubicBezTo>
                      <a:pt x="607568" y="470601"/>
                      <a:pt x="471313" y="606651"/>
                      <a:pt x="303784" y="606651"/>
                    </a:cubicBezTo>
                    <a:cubicBezTo>
                      <a:pt x="136255" y="606651"/>
                      <a:pt x="0" y="470601"/>
                      <a:pt x="0" y="303325"/>
                    </a:cubicBezTo>
                    <a:cubicBezTo>
                      <a:pt x="0" y="136050"/>
                      <a:pt x="136255" y="0"/>
                      <a:pt x="303784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5532725" y="3050707"/>
                <a:ext cx="259092" cy="33581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9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true" flipV="false" rot="0">
                <a:off x="2082800" y="3191548"/>
                <a:ext cx="3378682" cy="5793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与电商平台合作，通过社交分享促进销售转化。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true" flipV="false" rot="0">
                <a:off x="2082804" y="2785688"/>
                <a:ext cx="3378682" cy="4058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电商合作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5461487" y="3505911"/>
              <a:ext cx="4774713" cy="985242"/>
              <a:chOff x="5461487" y="3505911"/>
              <a:chExt cx="4774713" cy="985242"/>
            </a:xfrm>
          </p:grpSpPr>
          <p:sp>
            <p:nvSpPr>
              <p:cNvPr id="18" name="AutoShape 18"/>
              <p:cNvSpPr/>
              <p:nvPr/>
            </p:nvSpPr>
            <p:spPr>
              <a:xfrm flipH="false" flipV="false" rot="0">
                <a:off x="5461487" y="3561287"/>
                <a:ext cx="1396025" cy="755101"/>
              </a:xfrm>
              <a:custGeom>
                <a:rect b="b" l="l" r="r" t="t"/>
                <a:pathLst>
                  <a:path h="3664858" w="6775553">
                    <a:moveTo>
                      <a:pt x="1832429" y="0"/>
                    </a:moveTo>
                    <a:cubicBezTo>
                      <a:pt x="2591446" y="0"/>
                      <a:pt x="3242679" y="461478"/>
                      <a:pt x="3520857" y="1119165"/>
                    </a:cubicBezTo>
                    <a:lnTo>
                      <a:pt x="3541502" y="1175571"/>
                    </a:lnTo>
                    <a:lnTo>
                      <a:pt x="3543956" y="1174000"/>
                    </a:lnTo>
                    <a:lnTo>
                      <a:pt x="3615719" y="1306233"/>
                    </a:lnTo>
                    <a:cubicBezTo>
                      <a:pt x="3773967" y="1540504"/>
                      <a:pt x="4041957" y="1694531"/>
                      <a:pt x="4345916" y="1694531"/>
                    </a:cubicBezTo>
                    <a:cubicBezTo>
                      <a:pt x="4611881" y="1694531"/>
                      <a:pt x="4850306" y="1576604"/>
                      <a:pt x="5011770" y="1390179"/>
                    </a:cubicBezTo>
                    <a:lnTo>
                      <a:pt x="5048596" y="1342134"/>
                    </a:lnTo>
                    <a:lnTo>
                      <a:pt x="5066082" y="1309919"/>
                    </a:lnTo>
                    <a:lnTo>
                      <a:pt x="5089552" y="1281473"/>
                    </a:lnTo>
                    <a:lnTo>
                      <a:pt x="5094681" y="1272022"/>
                    </a:lnTo>
                    <a:lnTo>
                      <a:pt x="5096253" y="1273351"/>
                    </a:lnTo>
                    <a:lnTo>
                      <a:pt x="5180197" y="1171610"/>
                    </a:lnTo>
                    <a:cubicBezTo>
                      <a:pt x="5349315" y="1002492"/>
                      <a:pt x="5582950" y="897890"/>
                      <a:pt x="5841015" y="897890"/>
                    </a:cubicBezTo>
                    <a:cubicBezTo>
                      <a:pt x="6357146" y="897890"/>
                      <a:pt x="6775553" y="1316297"/>
                      <a:pt x="6775553" y="1832428"/>
                    </a:cubicBezTo>
                    <a:cubicBezTo>
                      <a:pt x="6775553" y="2348559"/>
                      <a:pt x="6357146" y="2766966"/>
                      <a:pt x="5841015" y="2766966"/>
                    </a:cubicBezTo>
                    <a:cubicBezTo>
                      <a:pt x="5558756" y="2766966"/>
                      <a:pt x="5305723" y="2641832"/>
                      <a:pt x="5134367" y="2444014"/>
                    </a:cubicBezTo>
                    <a:lnTo>
                      <a:pt x="5092691" y="2386854"/>
                    </a:lnTo>
                    <a:lnTo>
                      <a:pt x="5090513" y="2388695"/>
                    </a:lnTo>
                    <a:lnTo>
                      <a:pt x="5080267" y="2369814"/>
                    </a:lnTo>
                    <a:lnTo>
                      <a:pt x="5046845" y="2323975"/>
                    </a:lnTo>
                    <a:lnTo>
                      <a:pt x="5011770" y="2278215"/>
                    </a:lnTo>
                    <a:cubicBezTo>
                      <a:pt x="4850306" y="2091790"/>
                      <a:pt x="4611881" y="1973862"/>
                      <a:pt x="4345916" y="1973862"/>
                    </a:cubicBezTo>
                    <a:cubicBezTo>
                      <a:pt x="4041957" y="1973863"/>
                      <a:pt x="3773967" y="2127890"/>
                      <a:pt x="3615719" y="2362160"/>
                    </a:cubicBezTo>
                    <a:lnTo>
                      <a:pt x="3548466" y="2486081"/>
                    </a:lnTo>
                    <a:lnTo>
                      <a:pt x="3544494" y="2483539"/>
                    </a:lnTo>
                    <a:lnTo>
                      <a:pt x="3533622" y="2514722"/>
                    </a:lnTo>
                    <a:cubicBezTo>
                      <a:pt x="3263004" y="3188846"/>
                      <a:pt x="2603306" y="3664858"/>
                      <a:pt x="1832429" y="3664858"/>
                    </a:cubicBezTo>
                    <a:cubicBezTo>
                      <a:pt x="820406" y="3664858"/>
                      <a:pt x="0" y="2844452"/>
                      <a:pt x="0" y="1832429"/>
                    </a:cubicBezTo>
                    <a:cubicBezTo>
                      <a:pt x="0" y="820406"/>
                      <a:pt x="820406" y="0"/>
                      <a:pt x="1832429" y="0"/>
                    </a:cubicBezTo>
                    <a:close/>
                  </a:path>
                </a:pathLst>
              </a:custGeom>
              <a:solidFill>
                <a:srgbClr val="0066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 flipH="false" flipV="false" rot="0">
                <a:off x="5708570" y="3806976"/>
                <a:ext cx="303329" cy="263725"/>
              </a:xfrm>
              <a:custGeom>
                <a:rect b="b" l="l" r="r" t="t"/>
                <a:pathLst>
                  <a:path h="3467" w="3982">
                    <a:moveTo>
                      <a:pt x="3807" y="213"/>
                    </a:moveTo>
                    <a:cubicBezTo>
                      <a:pt x="3692" y="76"/>
                      <a:pt x="3512" y="0"/>
                      <a:pt x="3301" y="0"/>
                    </a:cubicBezTo>
                    <a:cubicBezTo>
                      <a:pt x="3067" y="0"/>
                      <a:pt x="2817" y="92"/>
                      <a:pt x="2614" y="251"/>
                    </a:cubicBezTo>
                    <a:cubicBezTo>
                      <a:pt x="2389" y="429"/>
                      <a:pt x="2240" y="677"/>
                      <a:pt x="2194" y="952"/>
                    </a:cubicBezTo>
                    <a:cubicBezTo>
                      <a:pt x="2190" y="978"/>
                      <a:pt x="2201" y="1003"/>
                      <a:pt x="2222" y="1018"/>
                    </a:cubicBezTo>
                    <a:cubicBezTo>
                      <a:pt x="2244" y="1033"/>
                      <a:pt x="2272" y="1033"/>
                      <a:pt x="2294" y="1020"/>
                    </a:cubicBezTo>
                    <a:cubicBezTo>
                      <a:pt x="2379" y="969"/>
                      <a:pt x="2460" y="942"/>
                      <a:pt x="2528" y="942"/>
                    </a:cubicBezTo>
                    <a:cubicBezTo>
                      <a:pt x="2599" y="942"/>
                      <a:pt x="2654" y="972"/>
                      <a:pt x="2688" y="1028"/>
                    </a:cubicBezTo>
                    <a:cubicBezTo>
                      <a:pt x="2749" y="1129"/>
                      <a:pt x="2733" y="1292"/>
                      <a:pt x="2646" y="1454"/>
                    </a:cubicBezTo>
                    <a:cubicBezTo>
                      <a:pt x="2366" y="1977"/>
                      <a:pt x="2208" y="2103"/>
                      <a:pt x="2173" y="2106"/>
                    </a:cubicBezTo>
                    <a:cubicBezTo>
                      <a:pt x="2168" y="2104"/>
                      <a:pt x="2133" y="2083"/>
                      <a:pt x="2077" y="1926"/>
                    </a:cubicBezTo>
                    <a:cubicBezTo>
                      <a:pt x="2032" y="1801"/>
                      <a:pt x="1985" y="1622"/>
                      <a:pt x="1927" y="1392"/>
                    </a:cubicBezTo>
                    <a:cubicBezTo>
                      <a:pt x="1900" y="1284"/>
                      <a:pt x="1879" y="1158"/>
                      <a:pt x="1857" y="1023"/>
                    </a:cubicBezTo>
                    <a:cubicBezTo>
                      <a:pt x="1779" y="556"/>
                      <a:pt x="1691" y="26"/>
                      <a:pt x="1292" y="26"/>
                    </a:cubicBezTo>
                    <a:cubicBezTo>
                      <a:pt x="1263" y="26"/>
                      <a:pt x="1232" y="29"/>
                      <a:pt x="1201" y="35"/>
                    </a:cubicBezTo>
                    <a:cubicBezTo>
                      <a:pt x="690" y="136"/>
                      <a:pt x="48" y="897"/>
                      <a:pt x="21" y="930"/>
                    </a:cubicBezTo>
                    <a:cubicBezTo>
                      <a:pt x="1" y="954"/>
                      <a:pt x="0" y="988"/>
                      <a:pt x="19" y="1013"/>
                    </a:cubicBezTo>
                    <a:lnTo>
                      <a:pt x="112" y="1135"/>
                    </a:lnTo>
                    <a:cubicBezTo>
                      <a:pt x="133" y="1163"/>
                      <a:pt x="173" y="1169"/>
                      <a:pt x="202" y="1149"/>
                    </a:cubicBezTo>
                    <a:cubicBezTo>
                      <a:pt x="204" y="1148"/>
                      <a:pt x="362" y="1041"/>
                      <a:pt x="491" y="1041"/>
                    </a:cubicBezTo>
                    <a:cubicBezTo>
                      <a:pt x="540" y="1041"/>
                      <a:pt x="574" y="1056"/>
                      <a:pt x="599" y="1090"/>
                    </a:cubicBezTo>
                    <a:cubicBezTo>
                      <a:pt x="643" y="1149"/>
                      <a:pt x="794" y="1637"/>
                      <a:pt x="915" y="2028"/>
                    </a:cubicBezTo>
                    <a:cubicBezTo>
                      <a:pt x="1048" y="2458"/>
                      <a:pt x="1173" y="2863"/>
                      <a:pt x="1241" y="3004"/>
                    </a:cubicBezTo>
                    <a:cubicBezTo>
                      <a:pt x="1340" y="3235"/>
                      <a:pt x="1564" y="3467"/>
                      <a:pt x="1839" y="3467"/>
                    </a:cubicBezTo>
                    <a:lnTo>
                      <a:pt x="1839" y="3467"/>
                    </a:lnTo>
                    <a:cubicBezTo>
                      <a:pt x="1941" y="3467"/>
                      <a:pt x="2043" y="3435"/>
                      <a:pt x="2141" y="3371"/>
                    </a:cubicBezTo>
                    <a:cubicBezTo>
                      <a:pt x="2463" y="3162"/>
                      <a:pt x="3711" y="2127"/>
                      <a:pt x="3932" y="878"/>
                    </a:cubicBezTo>
                    <a:cubicBezTo>
                      <a:pt x="3982" y="600"/>
                      <a:pt x="3939" y="370"/>
                      <a:pt x="3807" y="21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6527182" y="3770930"/>
                <a:ext cx="259092" cy="33581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9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true" flipV="false" rot="0">
                <a:off x="6857514" y="3911771"/>
                <a:ext cx="3378682" cy="5793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用户购买虚拟礼物打赏主播，平台与主播分成，激励内容创作。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true" flipV="false" rot="0">
                <a:off x="6857518" y="3505911"/>
                <a:ext cx="3378682" cy="4058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直播打赏分成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flipH="false" flipV="false" rot="0">
              <a:off x="2082800" y="4226134"/>
              <a:ext cx="4774712" cy="985242"/>
              <a:chOff x="2082800" y="4226134"/>
              <a:chExt cx="4774712" cy="985242"/>
            </a:xfrm>
          </p:grpSpPr>
          <p:sp>
            <p:nvSpPr>
              <p:cNvPr id="24" name="AutoShape 24"/>
              <p:cNvSpPr/>
              <p:nvPr/>
            </p:nvSpPr>
            <p:spPr>
              <a:xfrm flipH="true" flipV="false" rot="0">
                <a:off x="5461487" y="4281511"/>
                <a:ext cx="1396025" cy="755101"/>
              </a:xfrm>
              <a:custGeom>
                <a:rect b="b" l="l" r="r" t="t"/>
                <a:pathLst>
                  <a:path h="3664858" w="6775553">
                    <a:moveTo>
                      <a:pt x="1832429" y="0"/>
                    </a:moveTo>
                    <a:cubicBezTo>
                      <a:pt x="2591446" y="0"/>
                      <a:pt x="3242679" y="461478"/>
                      <a:pt x="3520857" y="1119165"/>
                    </a:cubicBezTo>
                    <a:lnTo>
                      <a:pt x="3541502" y="1175571"/>
                    </a:lnTo>
                    <a:lnTo>
                      <a:pt x="3543956" y="1174000"/>
                    </a:lnTo>
                    <a:lnTo>
                      <a:pt x="3615719" y="1306233"/>
                    </a:lnTo>
                    <a:cubicBezTo>
                      <a:pt x="3773967" y="1540504"/>
                      <a:pt x="4041957" y="1694531"/>
                      <a:pt x="4345916" y="1694531"/>
                    </a:cubicBezTo>
                    <a:cubicBezTo>
                      <a:pt x="4611881" y="1694531"/>
                      <a:pt x="4850306" y="1576604"/>
                      <a:pt x="5011770" y="1390179"/>
                    </a:cubicBezTo>
                    <a:lnTo>
                      <a:pt x="5048596" y="1342134"/>
                    </a:lnTo>
                    <a:lnTo>
                      <a:pt x="5066082" y="1309919"/>
                    </a:lnTo>
                    <a:lnTo>
                      <a:pt x="5089552" y="1281473"/>
                    </a:lnTo>
                    <a:lnTo>
                      <a:pt x="5094681" y="1272022"/>
                    </a:lnTo>
                    <a:lnTo>
                      <a:pt x="5096253" y="1273351"/>
                    </a:lnTo>
                    <a:lnTo>
                      <a:pt x="5180197" y="1171610"/>
                    </a:lnTo>
                    <a:cubicBezTo>
                      <a:pt x="5349315" y="1002492"/>
                      <a:pt x="5582950" y="897890"/>
                      <a:pt x="5841015" y="897890"/>
                    </a:cubicBezTo>
                    <a:cubicBezTo>
                      <a:pt x="6357146" y="897890"/>
                      <a:pt x="6775553" y="1316297"/>
                      <a:pt x="6775553" y="1832428"/>
                    </a:cubicBezTo>
                    <a:cubicBezTo>
                      <a:pt x="6775553" y="2348559"/>
                      <a:pt x="6357146" y="2766966"/>
                      <a:pt x="5841015" y="2766966"/>
                    </a:cubicBezTo>
                    <a:cubicBezTo>
                      <a:pt x="5558756" y="2766966"/>
                      <a:pt x="5305723" y="2641832"/>
                      <a:pt x="5134367" y="2444014"/>
                    </a:cubicBezTo>
                    <a:lnTo>
                      <a:pt x="5092691" y="2386854"/>
                    </a:lnTo>
                    <a:lnTo>
                      <a:pt x="5090513" y="2388695"/>
                    </a:lnTo>
                    <a:lnTo>
                      <a:pt x="5080267" y="2369814"/>
                    </a:lnTo>
                    <a:lnTo>
                      <a:pt x="5046845" y="2323975"/>
                    </a:lnTo>
                    <a:lnTo>
                      <a:pt x="5011770" y="2278215"/>
                    </a:lnTo>
                    <a:cubicBezTo>
                      <a:pt x="4850306" y="2091790"/>
                      <a:pt x="4611881" y="1973862"/>
                      <a:pt x="4345916" y="1973862"/>
                    </a:cubicBezTo>
                    <a:cubicBezTo>
                      <a:pt x="4041957" y="1973863"/>
                      <a:pt x="3773967" y="2127890"/>
                      <a:pt x="3615719" y="2362160"/>
                    </a:cubicBezTo>
                    <a:lnTo>
                      <a:pt x="3548466" y="2486081"/>
                    </a:lnTo>
                    <a:lnTo>
                      <a:pt x="3544494" y="2483539"/>
                    </a:lnTo>
                    <a:lnTo>
                      <a:pt x="3533622" y="2514722"/>
                    </a:lnTo>
                    <a:cubicBezTo>
                      <a:pt x="3263004" y="3188846"/>
                      <a:pt x="2603306" y="3664858"/>
                      <a:pt x="1832429" y="3664858"/>
                    </a:cubicBezTo>
                    <a:cubicBezTo>
                      <a:pt x="820406" y="3664858"/>
                      <a:pt x="0" y="2844452"/>
                      <a:pt x="0" y="1832429"/>
                    </a:cubicBezTo>
                    <a:cubicBezTo>
                      <a:pt x="0" y="820406"/>
                      <a:pt x="820406" y="0"/>
                      <a:pt x="1832429" y="0"/>
                    </a:cubicBezTo>
                    <a:close/>
                  </a:path>
                </a:pathLst>
              </a:custGeom>
              <a:solidFill>
                <a:srgbClr val="B059C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 flipH="false" flipV="false" rot="0">
                <a:off x="6307099" y="4511108"/>
                <a:ext cx="303330" cy="295906"/>
              </a:xfrm>
              <a:custGeom>
                <a:rect b="b" l="l" r="r" t="t"/>
                <a:pathLst>
                  <a:path h="422" w="432">
                    <a:moveTo>
                      <a:pt x="348" y="176"/>
                    </a:moveTo>
                    <a:cubicBezTo>
                      <a:pt x="351" y="164"/>
                      <a:pt x="353" y="151"/>
                      <a:pt x="353" y="137"/>
                    </a:cubicBezTo>
                    <a:cubicBezTo>
                      <a:pt x="353" y="61"/>
                      <a:pt x="292" y="0"/>
                      <a:pt x="216" y="0"/>
                    </a:cubicBezTo>
                    <a:cubicBezTo>
                      <a:pt x="140" y="0"/>
                      <a:pt x="78" y="61"/>
                      <a:pt x="78" y="137"/>
                    </a:cubicBezTo>
                    <a:cubicBezTo>
                      <a:pt x="78" y="151"/>
                      <a:pt x="80" y="164"/>
                      <a:pt x="84" y="176"/>
                    </a:cubicBezTo>
                    <a:cubicBezTo>
                      <a:pt x="67" y="190"/>
                      <a:pt x="0" y="250"/>
                      <a:pt x="27" y="328"/>
                    </a:cubicBezTo>
                    <a:cubicBezTo>
                      <a:pt x="27" y="328"/>
                      <a:pt x="51" y="326"/>
                      <a:pt x="70" y="290"/>
                    </a:cubicBezTo>
                    <a:cubicBezTo>
                      <a:pt x="76" y="313"/>
                      <a:pt x="86" y="334"/>
                      <a:pt x="101" y="351"/>
                    </a:cubicBezTo>
                    <a:cubicBezTo>
                      <a:pt x="80" y="357"/>
                      <a:pt x="65" y="370"/>
                      <a:pt x="65" y="384"/>
                    </a:cubicBezTo>
                    <a:cubicBezTo>
                      <a:pt x="65" y="405"/>
                      <a:pt x="96" y="422"/>
                      <a:pt x="135" y="422"/>
                    </a:cubicBezTo>
                    <a:cubicBezTo>
                      <a:pt x="161" y="422"/>
                      <a:pt x="184" y="414"/>
                      <a:pt x="196" y="402"/>
                    </a:cubicBezTo>
                    <a:cubicBezTo>
                      <a:pt x="202" y="403"/>
                      <a:pt x="209" y="404"/>
                      <a:pt x="216" y="404"/>
                    </a:cubicBezTo>
                    <a:cubicBezTo>
                      <a:pt x="223" y="404"/>
                      <a:pt x="229" y="403"/>
                      <a:pt x="236" y="402"/>
                    </a:cubicBezTo>
                    <a:cubicBezTo>
                      <a:pt x="248" y="414"/>
                      <a:pt x="271" y="422"/>
                      <a:pt x="297" y="422"/>
                    </a:cubicBezTo>
                    <a:cubicBezTo>
                      <a:pt x="335" y="422"/>
                      <a:pt x="367" y="405"/>
                      <a:pt x="367" y="384"/>
                    </a:cubicBezTo>
                    <a:cubicBezTo>
                      <a:pt x="367" y="370"/>
                      <a:pt x="352" y="357"/>
                      <a:pt x="330" y="351"/>
                    </a:cubicBezTo>
                    <a:cubicBezTo>
                      <a:pt x="345" y="334"/>
                      <a:pt x="356" y="313"/>
                      <a:pt x="362" y="290"/>
                    </a:cubicBezTo>
                    <a:cubicBezTo>
                      <a:pt x="381" y="326"/>
                      <a:pt x="404" y="328"/>
                      <a:pt x="404" y="328"/>
                    </a:cubicBezTo>
                    <a:cubicBezTo>
                      <a:pt x="432" y="250"/>
                      <a:pt x="365" y="190"/>
                      <a:pt x="348" y="17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5532725" y="4491153"/>
                <a:ext cx="259092" cy="33581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9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true" flipV="false" rot="0">
                <a:off x="2082800" y="4631994"/>
                <a:ext cx="3378682" cy="5793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与公众号结合，实现内容互补和商业价值提升。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true" flipV="false" rot="0">
                <a:off x="2082804" y="4226134"/>
                <a:ext cx="3378682" cy="4058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公众号联动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flipH="false" flipV="false" rot="0">
              <a:off x="5461487" y="4946358"/>
              <a:ext cx="4774713" cy="985242"/>
              <a:chOff x="5461487" y="4946358"/>
              <a:chExt cx="4774713" cy="985242"/>
            </a:xfrm>
          </p:grpSpPr>
          <p:sp>
            <p:nvSpPr>
              <p:cNvPr id="30" name="AutoShape 30"/>
              <p:cNvSpPr/>
              <p:nvPr/>
            </p:nvSpPr>
            <p:spPr>
              <a:xfrm flipH="false" flipV="false" rot="0">
                <a:off x="5461487" y="5001734"/>
                <a:ext cx="1396025" cy="755101"/>
              </a:xfrm>
              <a:custGeom>
                <a:rect b="b" l="l" r="r" t="t"/>
                <a:pathLst>
                  <a:path h="3664858" w="6775553">
                    <a:moveTo>
                      <a:pt x="1832429" y="0"/>
                    </a:moveTo>
                    <a:cubicBezTo>
                      <a:pt x="2591446" y="0"/>
                      <a:pt x="3242679" y="461478"/>
                      <a:pt x="3520857" y="1119165"/>
                    </a:cubicBezTo>
                    <a:lnTo>
                      <a:pt x="3541502" y="1175571"/>
                    </a:lnTo>
                    <a:lnTo>
                      <a:pt x="3543956" y="1174000"/>
                    </a:lnTo>
                    <a:lnTo>
                      <a:pt x="3615719" y="1306233"/>
                    </a:lnTo>
                    <a:cubicBezTo>
                      <a:pt x="3773967" y="1540504"/>
                      <a:pt x="4041957" y="1694531"/>
                      <a:pt x="4345916" y="1694531"/>
                    </a:cubicBezTo>
                    <a:cubicBezTo>
                      <a:pt x="4611881" y="1694531"/>
                      <a:pt x="4850306" y="1576604"/>
                      <a:pt x="5011770" y="1390179"/>
                    </a:cubicBezTo>
                    <a:lnTo>
                      <a:pt x="5048596" y="1342134"/>
                    </a:lnTo>
                    <a:lnTo>
                      <a:pt x="5066082" y="1309919"/>
                    </a:lnTo>
                    <a:lnTo>
                      <a:pt x="5089552" y="1281473"/>
                    </a:lnTo>
                    <a:lnTo>
                      <a:pt x="5094681" y="1272022"/>
                    </a:lnTo>
                    <a:lnTo>
                      <a:pt x="5096253" y="1273351"/>
                    </a:lnTo>
                    <a:lnTo>
                      <a:pt x="5180197" y="1171610"/>
                    </a:lnTo>
                    <a:cubicBezTo>
                      <a:pt x="5349315" y="1002492"/>
                      <a:pt x="5582950" y="897890"/>
                      <a:pt x="5841015" y="897890"/>
                    </a:cubicBezTo>
                    <a:cubicBezTo>
                      <a:pt x="6357146" y="897890"/>
                      <a:pt x="6775553" y="1316297"/>
                      <a:pt x="6775553" y="1832428"/>
                    </a:cubicBezTo>
                    <a:cubicBezTo>
                      <a:pt x="6775553" y="2348559"/>
                      <a:pt x="6357146" y="2766966"/>
                      <a:pt x="5841015" y="2766966"/>
                    </a:cubicBezTo>
                    <a:cubicBezTo>
                      <a:pt x="5558756" y="2766966"/>
                      <a:pt x="5305723" y="2641832"/>
                      <a:pt x="5134367" y="2444014"/>
                    </a:cubicBezTo>
                    <a:lnTo>
                      <a:pt x="5092691" y="2386854"/>
                    </a:lnTo>
                    <a:lnTo>
                      <a:pt x="5090513" y="2388695"/>
                    </a:lnTo>
                    <a:lnTo>
                      <a:pt x="5080267" y="2369814"/>
                    </a:lnTo>
                    <a:lnTo>
                      <a:pt x="5046845" y="2323975"/>
                    </a:lnTo>
                    <a:lnTo>
                      <a:pt x="5011770" y="2278215"/>
                    </a:lnTo>
                    <a:cubicBezTo>
                      <a:pt x="4850306" y="2091790"/>
                      <a:pt x="4611881" y="1973862"/>
                      <a:pt x="4345916" y="1973862"/>
                    </a:cubicBezTo>
                    <a:cubicBezTo>
                      <a:pt x="4041957" y="1973863"/>
                      <a:pt x="3773967" y="2127890"/>
                      <a:pt x="3615719" y="2362160"/>
                    </a:cubicBezTo>
                    <a:lnTo>
                      <a:pt x="3548466" y="2486081"/>
                    </a:lnTo>
                    <a:lnTo>
                      <a:pt x="3544494" y="2483539"/>
                    </a:lnTo>
                    <a:lnTo>
                      <a:pt x="3533622" y="2514722"/>
                    </a:lnTo>
                    <a:cubicBezTo>
                      <a:pt x="3263004" y="3188846"/>
                      <a:pt x="2603306" y="3664858"/>
                      <a:pt x="1832429" y="3664858"/>
                    </a:cubicBezTo>
                    <a:cubicBezTo>
                      <a:pt x="820406" y="3664858"/>
                      <a:pt x="0" y="2844452"/>
                      <a:pt x="0" y="1832429"/>
                    </a:cubicBezTo>
                    <a:cubicBezTo>
                      <a:pt x="0" y="820406"/>
                      <a:pt x="820406" y="0"/>
                      <a:pt x="1832429" y="0"/>
                    </a:cubicBezTo>
                    <a:close/>
                  </a:path>
                </a:pathLst>
              </a:custGeom>
              <a:solidFill>
                <a:srgbClr val="33CC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 flipH="false" flipV="false" rot="0">
                <a:off x="5717926" y="5237188"/>
                <a:ext cx="284617" cy="284194"/>
              </a:xfrm>
              <a:custGeom>
                <a:rect b="b" l="l" r="r" t="t"/>
                <a:pathLst>
                  <a:path h="602438" w="603334">
                    <a:moveTo>
                      <a:pt x="281864" y="316013"/>
                    </a:moveTo>
                    <a:lnTo>
                      <a:pt x="598290" y="316013"/>
                    </a:lnTo>
                    <a:cubicBezTo>
                      <a:pt x="599625" y="316013"/>
                      <a:pt x="600960" y="316605"/>
                      <a:pt x="601851" y="317494"/>
                    </a:cubicBezTo>
                    <a:cubicBezTo>
                      <a:pt x="602741" y="318383"/>
                      <a:pt x="603334" y="319716"/>
                      <a:pt x="603334" y="321048"/>
                    </a:cubicBezTo>
                    <a:lnTo>
                      <a:pt x="603186" y="597403"/>
                    </a:lnTo>
                    <a:cubicBezTo>
                      <a:pt x="603186" y="598884"/>
                      <a:pt x="602592" y="600217"/>
                      <a:pt x="601554" y="601105"/>
                    </a:cubicBezTo>
                    <a:cubicBezTo>
                      <a:pt x="600664" y="601994"/>
                      <a:pt x="599477" y="602438"/>
                      <a:pt x="598290" y="602438"/>
                    </a:cubicBezTo>
                    <a:cubicBezTo>
                      <a:pt x="597993" y="602438"/>
                      <a:pt x="597845" y="602438"/>
                      <a:pt x="597548" y="602290"/>
                    </a:cubicBezTo>
                    <a:lnTo>
                      <a:pt x="281123" y="557860"/>
                    </a:lnTo>
                    <a:cubicBezTo>
                      <a:pt x="278749" y="557564"/>
                      <a:pt x="276969" y="555490"/>
                      <a:pt x="276969" y="552973"/>
                    </a:cubicBezTo>
                    <a:lnTo>
                      <a:pt x="276969" y="321048"/>
                    </a:lnTo>
                    <a:cubicBezTo>
                      <a:pt x="276969" y="318235"/>
                      <a:pt x="279194" y="316013"/>
                      <a:pt x="281864" y="316013"/>
                    </a:cubicBezTo>
                    <a:close/>
                    <a:moveTo>
                      <a:pt x="5184" y="316013"/>
                    </a:moveTo>
                    <a:lnTo>
                      <a:pt x="242218" y="316013"/>
                    </a:lnTo>
                    <a:cubicBezTo>
                      <a:pt x="245036" y="316013"/>
                      <a:pt x="247261" y="318235"/>
                      <a:pt x="247261" y="321048"/>
                    </a:cubicBezTo>
                    <a:lnTo>
                      <a:pt x="247261" y="547937"/>
                    </a:lnTo>
                    <a:cubicBezTo>
                      <a:pt x="247261" y="549418"/>
                      <a:pt x="246668" y="550751"/>
                      <a:pt x="245481" y="551639"/>
                    </a:cubicBezTo>
                    <a:cubicBezTo>
                      <a:pt x="244591" y="552528"/>
                      <a:pt x="243404" y="552972"/>
                      <a:pt x="242218" y="552972"/>
                    </a:cubicBezTo>
                    <a:cubicBezTo>
                      <a:pt x="242069" y="552972"/>
                      <a:pt x="241773" y="552972"/>
                      <a:pt x="241624" y="552824"/>
                    </a:cubicBezTo>
                    <a:lnTo>
                      <a:pt x="4443" y="520390"/>
                    </a:lnTo>
                    <a:cubicBezTo>
                      <a:pt x="2069" y="520094"/>
                      <a:pt x="141" y="518021"/>
                      <a:pt x="141" y="515503"/>
                    </a:cubicBezTo>
                    <a:lnTo>
                      <a:pt x="141" y="321048"/>
                    </a:lnTo>
                    <a:cubicBezTo>
                      <a:pt x="141" y="319716"/>
                      <a:pt x="734" y="318383"/>
                      <a:pt x="1624" y="317494"/>
                    </a:cubicBezTo>
                    <a:cubicBezTo>
                      <a:pt x="2514" y="316605"/>
                      <a:pt x="3849" y="316013"/>
                      <a:pt x="5184" y="316013"/>
                    </a:cubicBezTo>
                    <a:close/>
                    <a:moveTo>
                      <a:pt x="241625" y="51752"/>
                    </a:moveTo>
                    <a:cubicBezTo>
                      <a:pt x="242960" y="51604"/>
                      <a:pt x="244443" y="52048"/>
                      <a:pt x="245481" y="52937"/>
                    </a:cubicBezTo>
                    <a:cubicBezTo>
                      <a:pt x="246668" y="53974"/>
                      <a:pt x="247261" y="55307"/>
                      <a:pt x="247261" y="56640"/>
                    </a:cubicBezTo>
                    <a:lnTo>
                      <a:pt x="247261" y="281487"/>
                    </a:lnTo>
                    <a:cubicBezTo>
                      <a:pt x="247261" y="284153"/>
                      <a:pt x="245036" y="286375"/>
                      <a:pt x="242218" y="286375"/>
                    </a:cubicBezTo>
                    <a:lnTo>
                      <a:pt x="5191" y="286375"/>
                    </a:lnTo>
                    <a:cubicBezTo>
                      <a:pt x="2373" y="286375"/>
                      <a:pt x="148" y="284153"/>
                      <a:pt x="148" y="281487"/>
                    </a:cubicBezTo>
                    <a:lnTo>
                      <a:pt x="0" y="88930"/>
                    </a:lnTo>
                    <a:cubicBezTo>
                      <a:pt x="0" y="86412"/>
                      <a:pt x="1780" y="84339"/>
                      <a:pt x="4301" y="84042"/>
                    </a:cubicBezTo>
                    <a:close/>
                    <a:moveTo>
                      <a:pt x="597556" y="28"/>
                    </a:moveTo>
                    <a:cubicBezTo>
                      <a:pt x="599039" y="-120"/>
                      <a:pt x="600374" y="324"/>
                      <a:pt x="601561" y="1213"/>
                    </a:cubicBezTo>
                    <a:cubicBezTo>
                      <a:pt x="602600" y="2102"/>
                      <a:pt x="603193" y="3583"/>
                      <a:pt x="603193" y="4917"/>
                    </a:cubicBezTo>
                    <a:lnTo>
                      <a:pt x="603193" y="281487"/>
                    </a:lnTo>
                    <a:cubicBezTo>
                      <a:pt x="603193" y="284154"/>
                      <a:pt x="600968" y="286376"/>
                      <a:pt x="598297" y="286376"/>
                    </a:cubicBezTo>
                    <a:lnTo>
                      <a:pt x="281865" y="286376"/>
                    </a:lnTo>
                    <a:cubicBezTo>
                      <a:pt x="279194" y="286376"/>
                      <a:pt x="276969" y="284154"/>
                      <a:pt x="276969" y="281487"/>
                    </a:cubicBezTo>
                    <a:lnTo>
                      <a:pt x="276969" y="50987"/>
                    </a:lnTo>
                    <a:cubicBezTo>
                      <a:pt x="276969" y="48469"/>
                      <a:pt x="278749" y="46395"/>
                      <a:pt x="281123" y="4609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2" name="TextBox 32"/>
              <p:cNvSpPr txBox="true"/>
              <p:nvPr/>
            </p:nvSpPr>
            <p:spPr>
              <a:xfrm flipH="false" flipV="false" rot="0">
                <a:off x="6527182" y="5211376"/>
                <a:ext cx="259092" cy="33581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9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  <p:sp>
            <p:nvSpPr>
              <p:cNvPr id="33" name="TextBox 33"/>
              <p:cNvSpPr txBox="true"/>
              <p:nvPr/>
            </p:nvSpPr>
            <p:spPr>
              <a:xfrm flipH="true" flipV="false" rot="0">
                <a:off x="6857514" y="5352218"/>
                <a:ext cx="3378682" cy="5793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举办线上活动，吸引品牌赞助，拓展商业合作形式。</a:t>
                </a:r>
                <a:endParaRPr lang="en-US" sz="1100"/>
              </a:p>
            </p:txBody>
          </p:sp>
          <p:sp>
            <p:nvSpPr>
              <p:cNvPr id="34" name="TextBox 34"/>
              <p:cNvSpPr txBox="true"/>
              <p:nvPr/>
            </p:nvSpPr>
            <p:spPr>
              <a:xfrm flipH="true" flipV="false" rot="0">
                <a:off x="6857518" y="4946358"/>
                <a:ext cx="3378682" cy="4058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线上活动赞助</a:t>
                </a:r>
                <a:endParaRPr lang="en-US" sz="1100"/>
              </a:p>
            </p:txBody>
          </p:sp>
        </p:grpSp>
      </p:grpSp>
      <p:sp>
        <p:nvSpPr>
          <p:cNvPr id="35" name="TextBox 35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视频号商业化模式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af9c04-5c83-4915-adae-bae87ba37523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0" y="0"/>
            <a:ext cx="12412144" cy="6858001"/>
            <a:chOff x="0" y="0"/>
            <a:chExt cx="12412144" cy="6858001"/>
          </a:xfrm>
        </p:grpSpPr>
        <p:sp>
          <p:nvSpPr>
            <p:cNvPr id="4" name="AutoShape 4"/>
            <p:cNvSpPr/>
            <p:nvPr/>
          </p:nvSpPr>
          <p:spPr>
            <a:xfrm flipH="false" flipV="false" rot="0">
              <a:off x="0" y="0"/>
              <a:ext cx="12192000" cy="6858000"/>
            </a:xfrm>
            <a:custGeom>
              <a:rect b="b" l="l" r="r" t="t"/>
              <a:pathLst>
                <a:path h="6858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7365D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660400" y="1130300"/>
              <a:ext cx="10858500" cy="4597400"/>
              <a:chOff x="660400" y="1130300"/>
              <a:chExt cx="10858500" cy="4597400"/>
            </a:xfrm>
          </p:grpSpPr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468967" y="1130300"/>
                <a:ext cx="9241366" cy="99822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成功案例展现平台魅力</a:t>
                </a:r>
                <a:endParaRPr lang="en-US" sz="1100"/>
              </a:p>
            </p:txBody>
          </p:sp>
          <p:grpSp>
            <p:nvGrpSpPr>
              <p:cNvPr id="7" name="Group 7"/>
              <p:cNvGrpSpPr/>
              <p:nvPr/>
            </p:nvGrpSpPr>
            <p:grpSpPr>
              <a:xfrm flipH="false" flipV="false" rot="0">
                <a:off x="660400" y="2592112"/>
                <a:ext cx="2476498" cy="3135588"/>
                <a:chOff x="660400" y="2923708"/>
                <a:chExt cx="2476498" cy="3135588"/>
              </a:xfrm>
            </p:grpSpPr>
            <p:sp>
              <p:nvSpPr>
                <p:cNvPr id="8" name="TextBox 8"/>
                <p:cNvSpPr txBox="true"/>
                <p:nvPr/>
              </p:nvSpPr>
              <p:spPr>
                <a:xfrm flipH="false" flipV="false" rot="0">
                  <a:off x="1332284" y="2923708"/>
                  <a:ext cx="1132730" cy="1132730"/>
                </a:xfrm>
                <a:prstGeom prst="ellipse">
                  <a:avLst/>
                </a:prstGeom>
                <a:solidFill>
                  <a:srgbClr val="0066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32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  <p:grpSp>
              <p:nvGrpSpPr>
                <p:cNvPr id="9" name="Group 9"/>
                <p:cNvGrpSpPr/>
                <p:nvPr/>
              </p:nvGrpSpPr>
              <p:grpSpPr>
                <a:xfrm flipH="false" flipV="false" rot="0">
                  <a:off x="660400" y="4226664"/>
                  <a:ext cx="2476498" cy="1832632"/>
                  <a:chOff x="2590800" y="4750104"/>
                  <a:chExt cx="2326978" cy="1335761"/>
                </a:xfrm>
              </p:grpSpPr>
              <p:sp>
                <p:nvSpPr>
                  <p:cNvPr id="10" name="TextBox 10"/>
                  <p:cNvSpPr txBox="true"/>
                  <p:nvPr/>
                </p:nvSpPr>
                <p:spPr>
                  <a:xfrm flipH="false" flipV="false" rot="0">
                    <a:off x="2590800" y="4750104"/>
                    <a:ext cx="2326977" cy="51962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b" anchorCtr="false" bIns="45720" lIns="91440" rIns="91440" rtlCol="false" tIns="45720" vert="horz" wrap="square"/>
                  <a:lstStyle/>
                  <a:p>
                    <a:pPr algn="ctr">
                      <a:defRPr/>
                    </a:pPr>
                    <a:r>
                      <a:rPr b="tru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汉仪行楷简"/>
                        <a:ea typeface="汉仪行楷简"/>
                        <a:cs typeface="汉仪行楷简"/>
                      </a:rPr>
                      <a:t>知名博主案例</a:t>
                    </a:r>
                    <a:endParaRPr lang="en-US" sz="1100"/>
                  </a:p>
                </p:txBody>
              </p:sp>
              <p:sp>
                <p:nvSpPr>
                  <p:cNvPr id="11" name="TextBox 11"/>
                  <p:cNvSpPr txBox="true"/>
                  <p:nvPr/>
                </p:nvSpPr>
                <p:spPr>
                  <a:xfrm flipH="false" flipV="false" rot="0">
                    <a:off x="2590801" y="5269727"/>
                    <a:ext cx="2326977" cy="816138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t" anchorCtr="false" bIns="45720" lIns="91440" rIns="9144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Regular"/>
                        <a:ea typeface="思源黑体 CN Regular"/>
                        <a:cs typeface="思源黑体 CN Regular"/>
                      </a:rPr>
                      <a:t>某美食博主通过分享创意美食制作过程，积累大量粉丝，实现商业变现。</a:t>
                    </a:r>
                    <a:endParaRPr lang="en-US" sz="1100"/>
                  </a:p>
                </p:txBody>
              </p:sp>
            </p:grpSp>
          </p:grpSp>
          <p:grpSp>
            <p:nvGrpSpPr>
              <p:cNvPr id="12" name="Group 12"/>
              <p:cNvGrpSpPr/>
              <p:nvPr/>
            </p:nvGrpSpPr>
            <p:grpSpPr>
              <a:xfrm flipH="false" flipV="false" rot="0">
                <a:off x="3454401" y="2592112"/>
                <a:ext cx="2476498" cy="3135588"/>
                <a:chOff x="660400" y="2923708"/>
                <a:chExt cx="2476498" cy="3135588"/>
              </a:xfrm>
            </p:grpSpPr>
            <p:sp>
              <p:nvSpPr>
                <p:cNvPr id="13" name="TextBox 13"/>
                <p:cNvSpPr txBox="true"/>
                <p:nvPr/>
              </p:nvSpPr>
              <p:spPr>
                <a:xfrm flipH="false" flipV="false" rot="0">
                  <a:off x="1332284" y="2923708"/>
                  <a:ext cx="1132730" cy="1132730"/>
                </a:xfrm>
                <a:prstGeom prst="ellipse">
                  <a:avLst/>
                </a:prstGeom>
                <a:solidFill>
                  <a:srgbClr val="0066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32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  <p:grpSp>
              <p:nvGrpSpPr>
                <p:cNvPr id="14" name="Group 14"/>
                <p:cNvGrpSpPr/>
                <p:nvPr/>
              </p:nvGrpSpPr>
              <p:grpSpPr>
                <a:xfrm flipH="false" flipV="false" rot="0">
                  <a:off x="660400" y="4226664"/>
                  <a:ext cx="2476498" cy="1832632"/>
                  <a:chOff x="2590800" y="4750104"/>
                  <a:chExt cx="2326978" cy="1335761"/>
                </a:xfrm>
              </p:grpSpPr>
              <p:sp>
                <p:nvSpPr>
                  <p:cNvPr id="15" name="TextBox 15"/>
                  <p:cNvSpPr txBox="true"/>
                  <p:nvPr/>
                </p:nvSpPr>
                <p:spPr>
                  <a:xfrm flipH="false" flipV="false" rot="0">
                    <a:off x="2590800" y="4750104"/>
                    <a:ext cx="2326977" cy="51962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b" anchorCtr="false" bIns="45720" lIns="91440" rIns="91440" rtlCol="false" tIns="45720" vert="horz" wrap="square"/>
                  <a:lstStyle/>
                  <a:p>
                    <a:pPr algn="ctr">
                      <a:defRPr/>
                    </a:pPr>
                    <a:r>
                      <a:rPr b="tru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汉仪行楷简"/>
                        <a:ea typeface="汉仪行楷简"/>
                        <a:cs typeface="汉仪行楷简"/>
                      </a:rPr>
                      <a:t>爆款内容案例</a:t>
                    </a:r>
                    <a:endParaRPr lang="en-US" sz="1100"/>
                  </a:p>
                </p:txBody>
              </p:sp>
              <p:sp>
                <p:nvSpPr>
                  <p:cNvPr id="16" name="TextBox 16"/>
                  <p:cNvSpPr txBox="true"/>
                  <p:nvPr/>
                </p:nvSpPr>
                <p:spPr>
                  <a:xfrm flipH="false" flipV="false" rot="0">
                    <a:off x="2590801" y="5269727"/>
                    <a:ext cx="2326977" cy="816138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t" anchorCtr="false" bIns="45720" lIns="91440" rIns="9144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Regular"/>
                        <a:ea typeface="思源黑体 CN Regular"/>
                        <a:cs typeface="思源黑体 CN Regular"/>
                      </a:rPr>
                      <a:t>某舞蹈视频因节奏明快、动作优美，引发大量用户模仿，成为爆款。</a:t>
                    </a:r>
                    <a:endParaRPr lang="en-US" sz="1100"/>
                  </a:p>
                </p:txBody>
              </p:sp>
            </p:grpSp>
          </p:grpSp>
          <p:grpSp>
            <p:nvGrpSpPr>
              <p:cNvPr id="17" name="Group 17"/>
              <p:cNvGrpSpPr/>
              <p:nvPr/>
            </p:nvGrpSpPr>
            <p:grpSpPr>
              <a:xfrm flipH="false" flipV="false" rot="0">
                <a:off x="6248402" y="2592112"/>
                <a:ext cx="2476498" cy="3135588"/>
                <a:chOff x="660400" y="2923708"/>
                <a:chExt cx="2476498" cy="3135588"/>
              </a:xfrm>
            </p:grpSpPr>
            <p:sp>
              <p:nvSpPr>
                <p:cNvPr id="18" name="TextBox 18"/>
                <p:cNvSpPr txBox="true"/>
                <p:nvPr/>
              </p:nvSpPr>
              <p:spPr>
                <a:xfrm flipH="false" flipV="false" rot="0">
                  <a:off x="1332284" y="2923708"/>
                  <a:ext cx="1132730" cy="1132730"/>
                </a:xfrm>
                <a:prstGeom prst="ellipse">
                  <a:avLst/>
                </a:prstGeom>
                <a:solidFill>
                  <a:srgbClr val="0066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32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  <p:grpSp>
              <p:nvGrpSpPr>
                <p:cNvPr id="19" name="Group 19"/>
                <p:cNvGrpSpPr/>
                <p:nvPr/>
              </p:nvGrpSpPr>
              <p:grpSpPr>
                <a:xfrm flipH="false" flipV="false" rot="0">
                  <a:off x="660400" y="4226664"/>
                  <a:ext cx="2476498" cy="1832632"/>
                  <a:chOff x="2590800" y="4750104"/>
                  <a:chExt cx="2326978" cy="1335761"/>
                </a:xfrm>
              </p:grpSpPr>
              <p:sp>
                <p:nvSpPr>
                  <p:cNvPr id="20" name="TextBox 20"/>
                  <p:cNvSpPr txBox="true"/>
                  <p:nvPr/>
                </p:nvSpPr>
                <p:spPr>
                  <a:xfrm flipH="false" flipV="false" rot="0">
                    <a:off x="2590800" y="4750104"/>
                    <a:ext cx="2326977" cy="51962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b" anchorCtr="false" bIns="45720" lIns="91440" rIns="91440" rtlCol="false" tIns="45720" vert="horz" wrap="square"/>
                  <a:lstStyle/>
                  <a:p>
                    <a:pPr algn="ctr">
                      <a:defRPr/>
                    </a:pPr>
                    <a:r>
                      <a:rPr b="tru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汉仪行楷简"/>
                        <a:ea typeface="汉仪行楷简"/>
                        <a:cs typeface="汉仪行楷简"/>
                      </a:rPr>
                      <a:t>品牌营销案例</a:t>
                    </a:r>
                    <a:endParaRPr lang="en-US" sz="1100"/>
                  </a:p>
                </p:txBody>
              </p:sp>
              <p:sp>
                <p:nvSpPr>
                  <p:cNvPr id="21" name="TextBox 21"/>
                  <p:cNvSpPr txBox="true"/>
                  <p:nvPr/>
                </p:nvSpPr>
                <p:spPr>
                  <a:xfrm flipH="false" flipV="false" rot="0">
                    <a:off x="2590801" y="5269727"/>
                    <a:ext cx="2326977" cy="816138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t" anchorCtr="false" bIns="45720" lIns="91440" rIns="9144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Regular"/>
                        <a:ea typeface="思源黑体 CN Regular"/>
                        <a:cs typeface="思源黑体 CN Regular"/>
                      </a:rPr>
                      <a:t>某品牌与抖音合作开展营销活动，通过挑战赛等形式，提升品牌知名度。</a:t>
                    </a:r>
                    <a:endParaRPr lang="en-US" sz="1100"/>
                  </a:p>
                </p:txBody>
              </p:sp>
            </p:grpSp>
          </p:grpSp>
          <p:grpSp>
            <p:nvGrpSpPr>
              <p:cNvPr id="22" name="Group 22"/>
              <p:cNvGrpSpPr/>
              <p:nvPr/>
            </p:nvGrpSpPr>
            <p:grpSpPr>
              <a:xfrm flipH="false" flipV="false" rot="0">
                <a:off x="9042402" y="2592112"/>
                <a:ext cx="2476498" cy="3135588"/>
                <a:chOff x="660400" y="2923708"/>
                <a:chExt cx="2476498" cy="3135588"/>
              </a:xfrm>
            </p:grpSpPr>
            <p:sp>
              <p:nvSpPr>
                <p:cNvPr id="23" name="TextBox 23"/>
                <p:cNvSpPr txBox="true"/>
                <p:nvPr/>
              </p:nvSpPr>
              <p:spPr>
                <a:xfrm flipH="false" flipV="false" rot="0">
                  <a:off x="1332284" y="2923708"/>
                  <a:ext cx="1132730" cy="1132730"/>
                </a:xfrm>
                <a:prstGeom prst="ellipse">
                  <a:avLst/>
                </a:prstGeom>
                <a:solidFill>
                  <a:srgbClr val="0066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none"/>
                <a:lstStyle/>
                <a:p>
                  <a:pPr algn="ctr">
                    <a:defRPr/>
                  </a:pPr>
                  <a:r>
                    <a:rPr b="true" i="false" lang="en-US" sz="320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  <p:grpSp>
              <p:nvGrpSpPr>
                <p:cNvPr id="24" name="Group 24"/>
                <p:cNvGrpSpPr/>
                <p:nvPr/>
              </p:nvGrpSpPr>
              <p:grpSpPr>
                <a:xfrm flipH="false" flipV="false" rot="0">
                  <a:off x="660400" y="4226664"/>
                  <a:ext cx="2476498" cy="1832632"/>
                  <a:chOff x="2590800" y="4750104"/>
                  <a:chExt cx="2326978" cy="1335761"/>
                </a:xfrm>
              </p:grpSpPr>
              <p:sp>
                <p:nvSpPr>
                  <p:cNvPr id="25" name="TextBox 25"/>
                  <p:cNvSpPr txBox="true"/>
                  <p:nvPr/>
                </p:nvSpPr>
                <p:spPr>
                  <a:xfrm flipH="false" flipV="false" rot="0">
                    <a:off x="2590800" y="4750104"/>
                    <a:ext cx="2326977" cy="519621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b" anchorCtr="false" bIns="45720" lIns="91440" rIns="91440" rtlCol="false" tIns="45720" vert="horz" wrap="square"/>
                  <a:lstStyle/>
                  <a:p>
                    <a:pPr algn="ctr">
                      <a:defRPr/>
                    </a:pPr>
                    <a:r>
                      <a:rPr b="true" i="false" lang="en-US" sz="18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汉仪行楷简"/>
                        <a:ea typeface="汉仪行楷简"/>
                        <a:cs typeface="汉仪行楷简"/>
                      </a:rPr>
                      <a:t>电商带货案例</a:t>
                    </a:r>
                    <a:endParaRPr lang="en-US" sz="1100"/>
                  </a:p>
                </p:txBody>
              </p:sp>
              <p:sp>
                <p:nvSpPr>
                  <p:cNvPr id="26" name="TextBox 26"/>
                  <p:cNvSpPr txBox="true"/>
                  <p:nvPr/>
                </p:nvSpPr>
                <p:spPr>
                  <a:xfrm flipH="false" flipV="false" rot="0">
                    <a:off x="2590801" y="5269727"/>
                    <a:ext cx="2326977" cy="816138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anchor="t" anchorCtr="false" bIns="45720" lIns="91440" rIns="91440" rtlCol="false" tIns="45720" vert="horz" wrap="square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b="false" i="false" lang="en-US" sz="120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Regular"/>
                        <a:ea typeface="思源黑体 CN Regular"/>
                        <a:cs typeface="思源黑体 CN Regular"/>
                      </a:rPr>
                      <a:t>某主播在抖音直播带货，凭借优质产品和优惠价格，实现高额销售额。</a:t>
                    </a:r>
                    <a:endParaRPr lang="en-US" sz="1100"/>
                  </a:p>
                </p:txBody>
              </p:sp>
            </p:grpSp>
          </p:grpSp>
        </p:grpSp>
        <p:sp>
          <p:nvSpPr>
            <p:cNvPr id="27" name="AutoShape 27"/>
            <p:cNvSpPr/>
            <p:nvPr/>
          </p:nvSpPr>
          <p:spPr>
            <a:xfrm flipH="true" flipV="true" rot="17580000">
              <a:off x="11120128" y="498110"/>
              <a:ext cx="1412780" cy="1171253"/>
            </a:xfrm>
            <a:custGeom>
              <a:rect b="b" l="l" r="r" t="t"/>
              <a:pathLst>
                <a:path h="1171253" w="1412780">
                  <a:moveTo>
                    <a:pt x="1222258" y="123837"/>
                  </a:moveTo>
                  <a:cubicBezTo>
                    <a:pt x="1216314" y="112386"/>
                    <a:pt x="1212573" y="100063"/>
                    <a:pt x="1212567" y="87171"/>
                  </a:cubicBezTo>
                  <a:cubicBezTo>
                    <a:pt x="1212560" y="67500"/>
                    <a:pt x="1221481" y="48495"/>
                    <a:pt x="1234606" y="33843"/>
                  </a:cubicBezTo>
                  <a:cubicBezTo>
                    <a:pt x="1252876" y="13447"/>
                    <a:pt x="1279719" y="1658"/>
                    <a:pt x="1306996" y="162"/>
                  </a:cubicBezTo>
                  <a:cubicBezTo>
                    <a:pt x="1323362" y="-736"/>
                    <a:pt x="1339884" y="2071"/>
                    <a:pt x="1354804" y="8947"/>
                  </a:cubicBezTo>
                  <a:cubicBezTo>
                    <a:pt x="1421195" y="39548"/>
                    <a:pt x="1420837" y="113483"/>
                    <a:pt x="1401494" y="173575"/>
                  </a:cubicBezTo>
                  <a:cubicBezTo>
                    <a:pt x="1376047" y="252629"/>
                    <a:pt x="1283236" y="195916"/>
                    <a:pt x="1245165" y="155278"/>
                  </a:cubicBezTo>
                  <a:cubicBezTo>
                    <a:pt x="1236351" y="145870"/>
                    <a:pt x="1228203" y="135289"/>
                    <a:pt x="1222258" y="123837"/>
                  </a:cubicBezTo>
                  <a:close/>
                  <a:moveTo>
                    <a:pt x="1143714" y="615701"/>
                  </a:moveTo>
                  <a:cubicBezTo>
                    <a:pt x="1137770" y="604250"/>
                    <a:pt x="1134028" y="591927"/>
                    <a:pt x="1134023" y="579034"/>
                  </a:cubicBezTo>
                  <a:cubicBezTo>
                    <a:pt x="1134016" y="559363"/>
                    <a:pt x="1142937" y="540360"/>
                    <a:pt x="1156062" y="525706"/>
                  </a:cubicBezTo>
                  <a:cubicBezTo>
                    <a:pt x="1174332" y="505311"/>
                    <a:pt x="1201174" y="493522"/>
                    <a:pt x="1228451" y="492025"/>
                  </a:cubicBezTo>
                  <a:cubicBezTo>
                    <a:pt x="1244817" y="491127"/>
                    <a:pt x="1261340" y="493935"/>
                    <a:pt x="1276260" y="500811"/>
                  </a:cubicBezTo>
                  <a:cubicBezTo>
                    <a:pt x="1342651" y="531412"/>
                    <a:pt x="1342293" y="605347"/>
                    <a:pt x="1322950" y="665440"/>
                  </a:cubicBezTo>
                  <a:cubicBezTo>
                    <a:pt x="1297503" y="744494"/>
                    <a:pt x="1204691" y="687780"/>
                    <a:pt x="1166620" y="647142"/>
                  </a:cubicBezTo>
                  <a:cubicBezTo>
                    <a:pt x="1157806" y="637733"/>
                    <a:pt x="1149659" y="627152"/>
                    <a:pt x="1143714" y="615701"/>
                  </a:cubicBezTo>
                  <a:close/>
                  <a:moveTo>
                    <a:pt x="755845" y="167138"/>
                  </a:moveTo>
                  <a:lnTo>
                    <a:pt x="895659" y="106080"/>
                  </a:lnTo>
                  <a:lnTo>
                    <a:pt x="895236" y="115781"/>
                  </a:lnTo>
                  <a:cubicBezTo>
                    <a:pt x="893520" y="131642"/>
                    <a:pt x="889871" y="147530"/>
                    <a:pt x="885035" y="162553"/>
                  </a:cubicBezTo>
                  <a:cubicBezTo>
                    <a:pt x="865949" y="221843"/>
                    <a:pt x="808971" y="204764"/>
                    <a:pt x="765614" y="175376"/>
                  </a:cubicBezTo>
                  <a:close/>
                  <a:moveTo>
                    <a:pt x="842693" y="433124"/>
                  </a:moveTo>
                  <a:cubicBezTo>
                    <a:pt x="838650" y="425337"/>
                    <a:pt x="836107" y="416959"/>
                    <a:pt x="836103" y="408193"/>
                  </a:cubicBezTo>
                  <a:cubicBezTo>
                    <a:pt x="836098" y="394818"/>
                    <a:pt x="842164" y="381896"/>
                    <a:pt x="851088" y="371934"/>
                  </a:cubicBezTo>
                  <a:cubicBezTo>
                    <a:pt x="863511" y="358066"/>
                    <a:pt x="881762" y="350050"/>
                    <a:pt x="900309" y="349033"/>
                  </a:cubicBezTo>
                  <a:cubicBezTo>
                    <a:pt x="911436" y="348422"/>
                    <a:pt x="922670" y="350331"/>
                    <a:pt x="932815" y="355006"/>
                  </a:cubicBezTo>
                  <a:cubicBezTo>
                    <a:pt x="977957" y="375813"/>
                    <a:pt x="977713" y="426083"/>
                    <a:pt x="964562" y="466942"/>
                  </a:cubicBezTo>
                  <a:cubicBezTo>
                    <a:pt x="947259" y="520693"/>
                    <a:pt x="884153" y="482132"/>
                    <a:pt x="858267" y="454502"/>
                  </a:cubicBezTo>
                  <a:cubicBezTo>
                    <a:pt x="852274" y="448105"/>
                    <a:pt x="846735" y="440910"/>
                    <a:pt x="842693" y="433124"/>
                  </a:cubicBezTo>
                  <a:close/>
                  <a:moveTo>
                    <a:pt x="911781" y="1006821"/>
                  </a:moveTo>
                  <a:cubicBezTo>
                    <a:pt x="905897" y="995487"/>
                    <a:pt x="902192" y="983288"/>
                    <a:pt x="902188" y="970527"/>
                  </a:cubicBezTo>
                  <a:cubicBezTo>
                    <a:pt x="902181" y="951057"/>
                    <a:pt x="911011" y="932247"/>
                    <a:pt x="924002" y="917743"/>
                  </a:cubicBezTo>
                  <a:cubicBezTo>
                    <a:pt x="942087" y="897554"/>
                    <a:pt x="968656" y="885886"/>
                    <a:pt x="995656" y="884404"/>
                  </a:cubicBezTo>
                  <a:cubicBezTo>
                    <a:pt x="1011855" y="883516"/>
                    <a:pt x="1028210" y="886295"/>
                    <a:pt x="1042978" y="893100"/>
                  </a:cubicBezTo>
                  <a:cubicBezTo>
                    <a:pt x="1108694" y="923390"/>
                    <a:pt x="1108339" y="996573"/>
                    <a:pt x="1089193" y="1056054"/>
                  </a:cubicBezTo>
                  <a:cubicBezTo>
                    <a:pt x="1064005" y="1134303"/>
                    <a:pt x="972138" y="1078167"/>
                    <a:pt x="934454" y="1037943"/>
                  </a:cubicBezTo>
                  <a:cubicBezTo>
                    <a:pt x="925729" y="1028630"/>
                    <a:pt x="917665" y="1018157"/>
                    <a:pt x="911781" y="1006821"/>
                  </a:cubicBezTo>
                  <a:close/>
                  <a:moveTo>
                    <a:pt x="551584" y="775348"/>
                  </a:moveTo>
                  <a:cubicBezTo>
                    <a:pt x="545639" y="763896"/>
                    <a:pt x="541897" y="751574"/>
                    <a:pt x="541892" y="738681"/>
                  </a:cubicBezTo>
                  <a:cubicBezTo>
                    <a:pt x="541885" y="719010"/>
                    <a:pt x="550806" y="700007"/>
                    <a:pt x="563931" y="685354"/>
                  </a:cubicBezTo>
                  <a:cubicBezTo>
                    <a:pt x="582201" y="664958"/>
                    <a:pt x="609043" y="653169"/>
                    <a:pt x="636320" y="651672"/>
                  </a:cubicBezTo>
                  <a:cubicBezTo>
                    <a:pt x="652686" y="650775"/>
                    <a:pt x="669208" y="653582"/>
                    <a:pt x="684130" y="660459"/>
                  </a:cubicBezTo>
                  <a:cubicBezTo>
                    <a:pt x="750520" y="691059"/>
                    <a:pt x="750162" y="764994"/>
                    <a:pt x="730819" y="825087"/>
                  </a:cubicBezTo>
                  <a:cubicBezTo>
                    <a:pt x="705372" y="904140"/>
                    <a:pt x="612560" y="847427"/>
                    <a:pt x="574490" y="806790"/>
                  </a:cubicBezTo>
                  <a:cubicBezTo>
                    <a:pt x="565675" y="797380"/>
                    <a:pt x="557528" y="786799"/>
                    <a:pt x="551584" y="775348"/>
                  </a:cubicBezTo>
                  <a:close/>
                  <a:moveTo>
                    <a:pt x="364780" y="413191"/>
                  </a:moveTo>
                  <a:cubicBezTo>
                    <a:pt x="358931" y="401922"/>
                    <a:pt x="355248" y="389796"/>
                    <a:pt x="355244" y="377110"/>
                  </a:cubicBezTo>
                  <a:cubicBezTo>
                    <a:pt x="355240" y="367430"/>
                    <a:pt x="357433" y="357917"/>
                    <a:pt x="361241" y="349019"/>
                  </a:cubicBezTo>
                  <a:lnTo>
                    <a:pt x="369789" y="335733"/>
                  </a:lnTo>
                  <a:lnTo>
                    <a:pt x="468314" y="292706"/>
                  </a:lnTo>
                  <a:lnTo>
                    <a:pt x="472223" y="292942"/>
                  </a:lnTo>
                  <a:cubicBezTo>
                    <a:pt x="480136" y="294369"/>
                    <a:pt x="487871" y="296751"/>
                    <a:pt x="495212" y="300135"/>
                  </a:cubicBezTo>
                  <a:cubicBezTo>
                    <a:pt x="560545" y="330248"/>
                    <a:pt x="560193" y="403002"/>
                    <a:pt x="541158" y="462136"/>
                  </a:cubicBezTo>
                  <a:cubicBezTo>
                    <a:pt x="516117" y="539930"/>
                    <a:pt x="424785" y="484121"/>
                    <a:pt x="387321" y="444132"/>
                  </a:cubicBezTo>
                  <a:cubicBezTo>
                    <a:pt x="378648" y="434872"/>
                    <a:pt x="370630" y="424461"/>
                    <a:pt x="364780" y="413191"/>
                  </a:cubicBezTo>
                  <a:close/>
                  <a:moveTo>
                    <a:pt x="105872" y="450989"/>
                  </a:moveTo>
                  <a:lnTo>
                    <a:pt x="251709" y="387300"/>
                  </a:lnTo>
                  <a:lnTo>
                    <a:pt x="250962" y="404438"/>
                  </a:lnTo>
                  <a:cubicBezTo>
                    <a:pt x="249245" y="420297"/>
                    <a:pt x="245597" y="436185"/>
                    <a:pt x="240761" y="451208"/>
                  </a:cubicBezTo>
                  <a:cubicBezTo>
                    <a:pt x="221675" y="510499"/>
                    <a:pt x="164697" y="493419"/>
                    <a:pt x="121341" y="464031"/>
                  </a:cubicBezTo>
                  <a:close/>
                  <a:moveTo>
                    <a:pt x="358646" y="1081830"/>
                  </a:moveTo>
                  <a:cubicBezTo>
                    <a:pt x="352701" y="1070378"/>
                    <a:pt x="348959" y="1058056"/>
                    <a:pt x="348954" y="1045163"/>
                  </a:cubicBezTo>
                  <a:cubicBezTo>
                    <a:pt x="348947" y="1025492"/>
                    <a:pt x="357868" y="1006488"/>
                    <a:pt x="370993" y="991836"/>
                  </a:cubicBezTo>
                  <a:cubicBezTo>
                    <a:pt x="389263" y="971439"/>
                    <a:pt x="416105" y="959650"/>
                    <a:pt x="443382" y="958154"/>
                  </a:cubicBezTo>
                  <a:cubicBezTo>
                    <a:pt x="459748" y="957256"/>
                    <a:pt x="476271" y="960063"/>
                    <a:pt x="491192" y="966940"/>
                  </a:cubicBezTo>
                  <a:cubicBezTo>
                    <a:pt x="557582" y="997541"/>
                    <a:pt x="557224" y="1071475"/>
                    <a:pt x="537881" y="1131569"/>
                  </a:cubicBezTo>
                  <a:cubicBezTo>
                    <a:pt x="512434" y="1210622"/>
                    <a:pt x="419622" y="1153908"/>
                    <a:pt x="381552" y="1113271"/>
                  </a:cubicBezTo>
                  <a:cubicBezTo>
                    <a:pt x="372737" y="1103862"/>
                    <a:pt x="364590" y="1093281"/>
                    <a:pt x="358646" y="1081830"/>
                  </a:cubicBezTo>
                  <a:close/>
                  <a:moveTo>
                    <a:pt x="9692" y="714274"/>
                  </a:moveTo>
                  <a:cubicBezTo>
                    <a:pt x="3747" y="702822"/>
                    <a:pt x="4" y="690500"/>
                    <a:pt x="0" y="677607"/>
                  </a:cubicBezTo>
                  <a:cubicBezTo>
                    <a:pt x="-8" y="657936"/>
                    <a:pt x="8914" y="638932"/>
                    <a:pt x="22039" y="624280"/>
                  </a:cubicBezTo>
                  <a:cubicBezTo>
                    <a:pt x="40308" y="603883"/>
                    <a:pt x="67151" y="592094"/>
                    <a:pt x="94428" y="590598"/>
                  </a:cubicBezTo>
                  <a:cubicBezTo>
                    <a:pt x="110794" y="589700"/>
                    <a:pt x="127316" y="592507"/>
                    <a:pt x="142237" y="599384"/>
                  </a:cubicBezTo>
                  <a:cubicBezTo>
                    <a:pt x="208628" y="629985"/>
                    <a:pt x="208270" y="703919"/>
                    <a:pt x="188927" y="764013"/>
                  </a:cubicBezTo>
                  <a:cubicBezTo>
                    <a:pt x="163480" y="843066"/>
                    <a:pt x="70668" y="786352"/>
                    <a:pt x="32598" y="745715"/>
                  </a:cubicBezTo>
                  <a:cubicBezTo>
                    <a:pt x="23783" y="736307"/>
                    <a:pt x="15636" y="725725"/>
                    <a:pt x="9692" y="71427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28" name="Group 28"/>
            <p:cNvGrpSpPr/>
            <p:nvPr/>
          </p:nvGrpSpPr>
          <p:grpSpPr>
            <a:xfrm flipH="false" flipV="false" rot="0">
              <a:off x="425596" y="1354439"/>
              <a:ext cx="469608" cy="500214"/>
              <a:chOff x="673799" y="1028700"/>
              <a:chExt cx="469608" cy="500214"/>
            </a:xfrm>
          </p:grpSpPr>
          <p:sp>
            <p:nvSpPr>
              <p:cNvPr id="29" name="AutoShape 29"/>
              <p:cNvSpPr/>
              <p:nvPr/>
            </p:nvSpPr>
            <p:spPr>
              <a:xfrm flipH="false" flipV="false" rot="0">
                <a:off x="673799" y="1028700"/>
                <a:ext cx="469608" cy="500214"/>
              </a:xfrm>
              <a:custGeom>
                <a:rect b="b" l="l" r="r" t="t"/>
                <a:pathLst>
                  <a:path h="2033170" w="1908767">
                    <a:moveTo>
                      <a:pt x="900248" y="1550"/>
                    </a:moveTo>
                    <a:cubicBezTo>
                      <a:pt x="1056276" y="-7010"/>
                      <a:pt x="1213795" y="19754"/>
                      <a:pt x="1356045" y="85314"/>
                    </a:cubicBezTo>
                    <a:cubicBezTo>
                      <a:pt x="1988991" y="377049"/>
                      <a:pt x="1985579" y="1081921"/>
                      <a:pt x="1801171" y="1654824"/>
                    </a:cubicBezTo>
                    <a:cubicBezTo>
                      <a:pt x="1558566" y="2408499"/>
                      <a:pt x="673727" y="1867811"/>
                      <a:pt x="310774" y="1480388"/>
                    </a:cubicBezTo>
                    <a:cubicBezTo>
                      <a:pt x="142707" y="1300984"/>
                      <a:pt x="88" y="1076892"/>
                      <a:pt x="1" y="831063"/>
                    </a:cubicBezTo>
                    <a:cubicBezTo>
                      <a:pt x="-67" y="643531"/>
                      <a:pt x="84983" y="462351"/>
                      <a:pt x="210109" y="322659"/>
                    </a:cubicBezTo>
                    <a:cubicBezTo>
                      <a:pt x="384292" y="128209"/>
                      <a:pt x="640200" y="15817"/>
                      <a:pt x="900248" y="155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 flipH="false" flipV="false" rot="0">
                <a:off x="673799" y="1028700"/>
                <a:ext cx="469608" cy="500214"/>
              </a:xfrm>
              <a:custGeom>
                <a:rect b="b" l="l" r="r" t="t"/>
                <a:pathLst>
                  <a:path h="2033170" w="1908767">
                    <a:moveTo>
                      <a:pt x="900248" y="1550"/>
                    </a:moveTo>
                    <a:cubicBezTo>
                      <a:pt x="1056276" y="-7010"/>
                      <a:pt x="1213795" y="19754"/>
                      <a:pt x="1356045" y="85314"/>
                    </a:cubicBezTo>
                    <a:cubicBezTo>
                      <a:pt x="1988991" y="377049"/>
                      <a:pt x="1985579" y="1081921"/>
                      <a:pt x="1801171" y="1654824"/>
                    </a:cubicBezTo>
                    <a:cubicBezTo>
                      <a:pt x="1558566" y="2408499"/>
                      <a:pt x="673727" y="1867811"/>
                      <a:pt x="310774" y="1480388"/>
                    </a:cubicBezTo>
                    <a:cubicBezTo>
                      <a:pt x="142707" y="1300984"/>
                      <a:pt x="88" y="1076892"/>
                      <a:pt x="1" y="831063"/>
                    </a:cubicBezTo>
                    <a:cubicBezTo>
                      <a:pt x="-67" y="643531"/>
                      <a:pt x="84983" y="462351"/>
                      <a:pt x="210109" y="322659"/>
                    </a:cubicBezTo>
                    <a:cubicBezTo>
                      <a:pt x="384292" y="128209"/>
                      <a:pt x="640200" y="15817"/>
                      <a:pt x="900248" y="1550"/>
                    </a:cubicBezTo>
                    <a:close/>
                  </a:path>
                </a:pathLst>
              </a:custGeom>
              <a:solidFill>
                <a:srgbClr val="33CCFF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 flipH="false" flipV="false" rot="0">
              <a:off x="1010097" y="1600313"/>
              <a:ext cx="341901" cy="364185"/>
              <a:chOff x="1258300" y="1274574"/>
              <a:chExt cx="341901" cy="364185"/>
            </a:xfrm>
          </p:grpSpPr>
          <p:sp>
            <p:nvSpPr>
              <p:cNvPr id="32" name="AutoShape 32"/>
              <p:cNvSpPr/>
              <p:nvPr/>
            </p:nvSpPr>
            <p:spPr>
              <a:xfrm flipH="false" flipV="true" rot="0">
                <a:off x="1258300" y="1274574"/>
                <a:ext cx="341901" cy="364185"/>
              </a:xfrm>
              <a:custGeom>
                <a:rect b="b" l="l" r="r" t="t"/>
                <a:pathLst>
                  <a:path h="2033170" w="1908767">
                    <a:moveTo>
                      <a:pt x="900248" y="1550"/>
                    </a:moveTo>
                    <a:cubicBezTo>
                      <a:pt x="1056276" y="-7010"/>
                      <a:pt x="1213795" y="19754"/>
                      <a:pt x="1356045" y="85314"/>
                    </a:cubicBezTo>
                    <a:cubicBezTo>
                      <a:pt x="1988991" y="377049"/>
                      <a:pt x="1985579" y="1081921"/>
                      <a:pt x="1801171" y="1654824"/>
                    </a:cubicBezTo>
                    <a:cubicBezTo>
                      <a:pt x="1558566" y="2408499"/>
                      <a:pt x="673727" y="1867811"/>
                      <a:pt x="310774" y="1480388"/>
                    </a:cubicBezTo>
                    <a:cubicBezTo>
                      <a:pt x="142707" y="1300984"/>
                      <a:pt x="88" y="1076892"/>
                      <a:pt x="1" y="831063"/>
                    </a:cubicBezTo>
                    <a:cubicBezTo>
                      <a:pt x="-67" y="643531"/>
                      <a:pt x="84983" y="462351"/>
                      <a:pt x="210109" y="322659"/>
                    </a:cubicBezTo>
                    <a:cubicBezTo>
                      <a:pt x="384292" y="128209"/>
                      <a:pt x="640200" y="15817"/>
                      <a:pt x="900248" y="155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3" name="AutoShape 33"/>
              <p:cNvSpPr/>
              <p:nvPr/>
            </p:nvSpPr>
            <p:spPr>
              <a:xfrm flipH="false" flipV="true" rot="0">
                <a:off x="1258300" y="1274574"/>
                <a:ext cx="341901" cy="364185"/>
              </a:xfrm>
              <a:custGeom>
                <a:rect b="b" l="l" r="r" t="t"/>
                <a:pathLst>
                  <a:path h="2033170" w="1908767">
                    <a:moveTo>
                      <a:pt x="900248" y="1550"/>
                    </a:moveTo>
                    <a:cubicBezTo>
                      <a:pt x="1056276" y="-7010"/>
                      <a:pt x="1213795" y="19754"/>
                      <a:pt x="1356045" y="85314"/>
                    </a:cubicBezTo>
                    <a:cubicBezTo>
                      <a:pt x="1988991" y="377049"/>
                      <a:pt x="1985579" y="1081921"/>
                      <a:pt x="1801171" y="1654824"/>
                    </a:cubicBezTo>
                    <a:cubicBezTo>
                      <a:pt x="1558566" y="2408499"/>
                      <a:pt x="673727" y="1867811"/>
                      <a:pt x="310774" y="1480388"/>
                    </a:cubicBezTo>
                    <a:cubicBezTo>
                      <a:pt x="142707" y="1300984"/>
                      <a:pt x="88" y="1076892"/>
                      <a:pt x="1" y="831063"/>
                    </a:cubicBezTo>
                    <a:cubicBezTo>
                      <a:pt x="-67" y="643531"/>
                      <a:pt x="84983" y="462351"/>
                      <a:pt x="210109" y="322659"/>
                    </a:cubicBezTo>
                    <a:cubicBezTo>
                      <a:pt x="384292" y="128209"/>
                      <a:pt x="640200" y="15817"/>
                      <a:pt x="900248" y="1550"/>
                    </a:cubicBezTo>
                    <a:close/>
                  </a:path>
                </a:pathLst>
              </a:custGeom>
              <a:solidFill>
                <a:srgbClr val="33CCFF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34" name="AutoShape 34"/>
            <p:cNvSpPr/>
            <p:nvPr/>
          </p:nvSpPr>
          <p:spPr>
            <a:xfrm flipH="false" flipV="false" rot="0">
              <a:off x="9714286" y="6168100"/>
              <a:ext cx="1838803" cy="689901"/>
            </a:xfrm>
            <a:custGeom>
              <a:rect b="b" l="l" r="r" t="t"/>
              <a:pathLst>
                <a:path h="1326623" w="3535869">
                  <a:moveTo>
                    <a:pt x="1789156" y="773"/>
                  </a:moveTo>
                  <a:cubicBezTo>
                    <a:pt x="2446237" y="29288"/>
                    <a:pt x="3327879" y="838996"/>
                    <a:pt x="3523670" y="1292756"/>
                  </a:cubicBezTo>
                  <a:lnTo>
                    <a:pt x="3535869" y="1326623"/>
                  </a:lnTo>
                  <a:lnTo>
                    <a:pt x="0" y="1326623"/>
                  </a:lnTo>
                  <a:lnTo>
                    <a:pt x="52464" y="1270104"/>
                  </a:lnTo>
                  <a:cubicBezTo>
                    <a:pt x="539038" y="747798"/>
                    <a:pt x="1204069" y="65002"/>
                    <a:pt x="1661004" y="5823"/>
                  </a:cubicBezTo>
                  <a:cubicBezTo>
                    <a:pt x="1702544" y="443"/>
                    <a:pt x="1745351" y="-1128"/>
                    <a:pt x="1789156" y="773"/>
                  </a:cubicBezTo>
                  <a:close/>
                </a:path>
              </a:pathLst>
            </a:custGeom>
            <a:solidFill>
              <a:srgbClr val="CC00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 flipH="false" flipV="false" rot="0">
              <a:off x="2" y="6012746"/>
              <a:ext cx="1354666" cy="845254"/>
            </a:xfrm>
            <a:custGeom>
              <a:rect b="b" l="l" r="r" t="t"/>
              <a:pathLst>
                <a:path h="1482153" w="2375407">
                  <a:moveTo>
                    <a:pt x="575733" y="486"/>
                  </a:moveTo>
                  <a:cubicBezTo>
                    <a:pt x="1063978" y="-5158"/>
                    <a:pt x="1817511" y="31531"/>
                    <a:pt x="2091267" y="474620"/>
                  </a:cubicBezTo>
                  <a:cubicBezTo>
                    <a:pt x="2193926" y="640779"/>
                    <a:pt x="2287654" y="939096"/>
                    <a:pt x="2345888" y="1265989"/>
                  </a:cubicBezTo>
                  <a:lnTo>
                    <a:pt x="2375407" y="1482153"/>
                  </a:lnTo>
                  <a:lnTo>
                    <a:pt x="0" y="1482153"/>
                  </a:lnTo>
                  <a:lnTo>
                    <a:pt x="0" y="41062"/>
                  </a:lnTo>
                  <a:lnTo>
                    <a:pt x="163513" y="20727"/>
                  </a:lnTo>
                  <a:cubicBezTo>
                    <a:pt x="310797" y="7012"/>
                    <a:pt x="453672" y="1897"/>
                    <a:pt x="575733" y="486"/>
                  </a:cubicBezTo>
                  <a:close/>
                </a:path>
              </a:pathLst>
            </a:custGeom>
            <a:solidFill>
              <a:srgbClr val="0066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 flipH="false" flipV="false" rot="0">
              <a:off x="1" y="5780363"/>
              <a:ext cx="1447800" cy="1069170"/>
            </a:xfrm>
            <a:custGeom>
              <a:rect b="b" l="l" r="r" t="t"/>
              <a:pathLst>
                <a:path h="2413448" w="3268133">
                  <a:moveTo>
                    <a:pt x="0" y="76648"/>
                  </a:moveTo>
                  <a:cubicBezTo>
                    <a:pt x="811389" y="-12252"/>
                    <a:pt x="1622778" y="-101152"/>
                    <a:pt x="2167467" y="288315"/>
                  </a:cubicBezTo>
                  <a:cubicBezTo>
                    <a:pt x="2712156" y="677782"/>
                    <a:pt x="2990144" y="1545615"/>
                    <a:pt x="3268133" y="2413448"/>
                  </a:cubicBezTo>
                </a:path>
              </a:pathLst>
            </a:custGeom>
            <a:ln w="444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37" name="TextBox 37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抖音典型案例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5949ea7-0a68-4e85-9b88-ffc09018d96a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400" y="1130300"/>
            <a:ext cx="10858500" cy="4693126"/>
            <a:chOff x="660400" y="1130300"/>
            <a:chExt cx="10858500" cy="4693126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60400" y="1130300"/>
              <a:ext cx="10858500" cy="117602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lnSpc>
                  <a:spcPct val="120000"/>
                </a:lnSpc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体现平台特色的成功案例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flipH="false" flipV="false" rot="0">
              <a:off x="678991" y="5778167"/>
              <a:ext cx="10713584" cy="0"/>
            </a:xfrm>
            <a:prstGeom prst="line">
              <a:avLst/>
            </a:prstGeom>
            <a:ln w="12700">
              <a:solidFill>
                <a:srgbClr val="5F46D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11392575" y="5732908"/>
              <a:ext cx="47898" cy="90518"/>
            </a:xfrm>
            <a:custGeom>
              <a:rect b="b" l="l" r="r" t="t"/>
              <a:pathLst>
                <a:path h="90518" w="47898">
                  <a:moveTo>
                    <a:pt x="47899" y="42620"/>
                  </a:moveTo>
                  <a:lnTo>
                    <a:pt x="0" y="0"/>
                  </a:lnTo>
                  <a:lnTo>
                    <a:pt x="0" y="90518"/>
                  </a:lnTo>
                </a:path>
              </a:pathLst>
            </a:custGeom>
            <a:solidFill>
              <a:srgbClr val="7365D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 flipH="false" flipV="false" rot="0">
              <a:off x="660400" y="2602181"/>
              <a:ext cx="2641662" cy="2752852"/>
              <a:chOff x="770077" y="2602181"/>
              <a:chExt cx="2641662" cy="2752852"/>
            </a:xfrm>
          </p:grpSpPr>
          <p:sp>
            <p:nvSpPr>
              <p:cNvPr id="8" name="AutoShape 8"/>
              <p:cNvSpPr/>
              <p:nvPr/>
            </p:nvSpPr>
            <p:spPr>
              <a:xfrm flipH="false" flipV="false" rot="0">
                <a:off x="770077" y="2602181"/>
                <a:ext cx="2641662" cy="2496919"/>
              </a:xfrm>
              <a:prstGeom prst="roundRect">
                <a:avLst>
                  <a:gd fmla="val 5908" name="adj"/>
                </a:avLst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1590834" y="4793756"/>
                <a:ext cx="1000149" cy="561277"/>
              </a:xfrm>
              <a:prstGeom prst="roundRect">
                <a:avLst>
                  <a:gd fmla="val 9416" name="adj"/>
                </a:avLst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859853" y="3210560"/>
                <a:ext cx="2462114" cy="4748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网红成长案例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859850" y="3685410"/>
                <a:ext cx="2462112" cy="10630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某农村小伙通过分享农村生活趣事，成为网红，带动家乡农产品销售。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 flipH="false" flipV="false" rot="0">
                <a:off x="843437" y="2687701"/>
                <a:ext cx="386251" cy="386251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 flipH="false" flipV="false" rot="0">
                <a:off x="1014080" y="2824628"/>
                <a:ext cx="66356" cy="125401"/>
              </a:xfrm>
              <a:custGeom>
                <a:rect b="b" l="l" r="r" t="t"/>
                <a:pathLst>
                  <a:path h="90518" w="47898">
                    <a:moveTo>
                      <a:pt x="47899" y="42620"/>
                    </a:moveTo>
                    <a:lnTo>
                      <a:pt x="0" y="0"/>
                    </a:lnTo>
                    <a:lnTo>
                      <a:pt x="0" y="90518"/>
                    </a:lnTo>
                  </a:path>
                </a:pathLst>
              </a:cu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3399346" y="2602181"/>
              <a:ext cx="2641662" cy="2752852"/>
              <a:chOff x="3472464" y="2602181"/>
              <a:chExt cx="2641662" cy="2752852"/>
            </a:xfrm>
          </p:grpSpPr>
          <p:sp>
            <p:nvSpPr>
              <p:cNvPr id="15" name="AutoShape 15"/>
              <p:cNvSpPr/>
              <p:nvPr/>
            </p:nvSpPr>
            <p:spPr>
              <a:xfrm flipH="false" flipV="false" rot="0">
                <a:off x="3472464" y="2602181"/>
                <a:ext cx="2641662" cy="2496919"/>
              </a:xfrm>
              <a:prstGeom prst="roundRect">
                <a:avLst>
                  <a:gd fmla="val 5908" name="adj"/>
                </a:avLst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4293221" y="4793756"/>
                <a:ext cx="1000149" cy="561277"/>
              </a:xfrm>
              <a:prstGeom prst="roundRect">
                <a:avLst>
                  <a:gd fmla="val 9416" name="adj"/>
                </a:avLst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3562240" y="3210560"/>
                <a:ext cx="2462114" cy="4748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乡村生活案例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3562237" y="3685410"/>
                <a:ext cx="2462112" cy="10630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以展示乡村美食、美景为内容，吸引大量城市用户关注，传播乡村文化。</a:t>
                </a:r>
                <a:endParaRPr lang="en-US" sz="1100"/>
              </a:p>
            </p:txBody>
          </p:sp>
          <p:sp>
            <p:nvSpPr>
              <p:cNvPr id="19" name="AutoShape 19"/>
              <p:cNvSpPr/>
              <p:nvPr/>
            </p:nvSpPr>
            <p:spPr>
              <a:xfrm flipH="false" flipV="false" rot="0">
                <a:off x="3545824" y="2687701"/>
                <a:ext cx="386251" cy="386251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 flipH="false" flipV="false" rot="0">
                <a:off x="3716467" y="2824628"/>
                <a:ext cx="66356" cy="125401"/>
              </a:xfrm>
              <a:custGeom>
                <a:rect b="b" l="l" r="r" t="t"/>
                <a:pathLst>
                  <a:path h="90518" w="47898">
                    <a:moveTo>
                      <a:pt x="47899" y="42620"/>
                    </a:moveTo>
                    <a:lnTo>
                      <a:pt x="0" y="0"/>
                    </a:lnTo>
                    <a:lnTo>
                      <a:pt x="0" y="90518"/>
                    </a:lnTo>
                  </a:path>
                </a:pathLst>
              </a:cu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 flipH="false" flipV="false" rot="0">
              <a:off x="6138292" y="2602181"/>
              <a:ext cx="2641662" cy="2752852"/>
              <a:chOff x="6174851" y="2602181"/>
              <a:chExt cx="2641662" cy="2752852"/>
            </a:xfrm>
          </p:grpSpPr>
          <p:sp>
            <p:nvSpPr>
              <p:cNvPr id="22" name="AutoShape 22"/>
              <p:cNvSpPr/>
              <p:nvPr/>
            </p:nvSpPr>
            <p:spPr>
              <a:xfrm flipH="false" flipV="false" rot="0">
                <a:off x="6174851" y="2602181"/>
                <a:ext cx="2641662" cy="2496919"/>
              </a:xfrm>
              <a:prstGeom prst="roundRect">
                <a:avLst>
                  <a:gd fmla="val 5908" name="adj"/>
                </a:avLst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6995608" y="4793756"/>
                <a:ext cx="1000149" cy="561277"/>
              </a:xfrm>
              <a:prstGeom prst="roundRect">
                <a:avLst>
                  <a:gd fmla="val 9416" name="adj"/>
                </a:avLst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6264627" y="3210560"/>
                <a:ext cx="2462114" cy="4748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小镇青年创业案例</a:t>
                </a:r>
                <a:endParaRPr lang="en-US" sz="1100"/>
              </a:p>
            </p:txBody>
          </p:sp>
          <p:sp>
            <p:nvSpPr>
              <p:cNvPr id="25" name="TextBox 25"/>
              <p:cNvSpPr txBox="true"/>
              <p:nvPr/>
            </p:nvSpPr>
            <p:spPr>
              <a:xfrm flipH="false" flipV="false" rot="0">
                <a:off x="6264624" y="3685410"/>
                <a:ext cx="2462112" cy="10630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某小镇青年在快手上销售手工艺品，实现创业梦想，带动当地就业。</a:t>
                </a:r>
                <a:endParaRPr lang="en-US" sz="1100"/>
              </a:p>
            </p:txBody>
          </p:sp>
          <p:sp>
            <p:nvSpPr>
              <p:cNvPr id="26" name="AutoShape 26"/>
              <p:cNvSpPr/>
              <p:nvPr/>
            </p:nvSpPr>
            <p:spPr>
              <a:xfrm flipH="false" flipV="false" rot="0">
                <a:off x="6248211" y="2687701"/>
                <a:ext cx="386251" cy="386251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AutoShape 27"/>
              <p:cNvSpPr/>
              <p:nvPr/>
            </p:nvSpPr>
            <p:spPr>
              <a:xfrm flipH="false" flipV="false" rot="0">
                <a:off x="6418854" y="2824628"/>
                <a:ext cx="66356" cy="125401"/>
              </a:xfrm>
              <a:custGeom>
                <a:rect b="b" l="l" r="r" t="t"/>
                <a:pathLst>
                  <a:path h="90518" w="47898">
                    <a:moveTo>
                      <a:pt x="47899" y="42620"/>
                    </a:moveTo>
                    <a:lnTo>
                      <a:pt x="0" y="0"/>
                    </a:lnTo>
                    <a:lnTo>
                      <a:pt x="0" y="90518"/>
                    </a:lnTo>
                  </a:path>
                </a:pathLst>
              </a:cu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 flipH="false" flipV="false" rot="0">
              <a:off x="8877238" y="2602181"/>
              <a:ext cx="2641662" cy="2752852"/>
              <a:chOff x="8877238" y="2602181"/>
              <a:chExt cx="2641662" cy="2752852"/>
            </a:xfrm>
          </p:grpSpPr>
          <p:sp>
            <p:nvSpPr>
              <p:cNvPr id="29" name="AutoShape 29"/>
              <p:cNvSpPr/>
              <p:nvPr/>
            </p:nvSpPr>
            <p:spPr>
              <a:xfrm flipH="false" flipV="false" rot="0">
                <a:off x="8877238" y="2602181"/>
                <a:ext cx="2641662" cy="2496919"/>
              </a:xfrm>
              <a:prstGeom prst="roundRect">
                <a:avLst>
                  <a:gd fmla="val 5908" name="adj"/>
                </a:avLst>
              </a:pr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TextBox 30"/>
              <p:cNvSpPr txBox="true"/>
              <p:nvPr/>
            </p:nvSpPr>
            <p:spPr>
              <a:xfrm flipH="false" flipV="false" rot="0">
                <a:off x="9697995" y="4793756"/>
                <a:ext cx="1000149" cy="561277"/>
              </a:xfrm>
              <a:prstGeom prst="roundRect">
                <a:avLst>
                  <a:gd fmla="val 9416" name="adj"/>
                </a:avLst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31" name="TextBox 31"/>
              <p:cNvSpPr txBox="true"/>
              <p:nvPr/>
            </p:nvSpPr>
            <p:spPr>
              <a:xfrm flipH="false" flipV="false" rot="0">
                <a:off x="8967014" y="3210560"/>
                <a:ext cx="2462114" cy="4748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传统手艺传播案例</a:t>
                </a:r>
                <a:endParaRPr lang="en-US" sz="1100"/>
              </a:p>
            </p:txBody>
          </p:sp>
          <p:sp>
            <p:nvSpPr>
              <p:cNvPr id="32" name="TextBox 32"/>
              <p:cNvSpPr txBox="true"/>
              <p:nvPr/>
            </p:nvSpPr>
            <p:spPr>
              <a:xfrm flipH="false" flipV="false" rot="0">
                <a:off x="8967011" y="3685410"/>
                <a:ext cx="2462112" cy="10630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传承传统手艺的视频在快手传播，让更多人了解和喜爱传统文化。</a:t>
                </a:r>
                <a:endParaRPr lang="en-US" sz="1100"/>
              </a:p>
            </p:txBody>
          </p:sp>
          <p:sp>
            <p:nvSpPr>
              <p:cNvPr id="33" name="AutoShape 33"/>
              <p:cNvSpPr/>
              <p:nvPr/>
            </p:nvSpPr>
            <p:spPr>
              <a:xfrm flipH="false" flipV="false" rot="0">
                <a:off x="8950598" y="2687701"/>
                <a:ext cx="386251" cy="386251"/>
              </a:xfrm>
              <a:prstGeom prst="ellipse">
                <a:avLst/>
              </a:prstGeom>
              <a:solidFill>
                <a:srgbClr val="7365D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4" name="AutoShape 34"/>
              <p:cNvSpPr/>
              <p:nvPr/>
            </p:nvSpPr>
            <p:spPr>
              <a:xfrm flipH="false" flipV="false" rot="0">
                <a:off x="9121241" y="2824628"/>
                <a:ext cx="66356" cy="125401"/>
              </a:xfrm>
              <a:custGeom>
                <a:rect b="b" l="l" r="r" t="t"/>
                <a:pathLst>
                  <a:path h="90518" w="47898">
                    <a:moveTo>
                      <a:pt x="47899" y="42620"/>
                    </a:moveTo>
                    <a:lnTo>
                      <a:pt x="0" y="0"/>
                    </a:lnTo>
                    <a:lnTo>
                      <a:pt x="0" y="90518"/>
                    </a:lnTo>
                  </a:path>
                </a:pathLst>
              </a:cu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35" name="TextBox 35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快手典型案例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38292b1-8bef-4a1f-bcb2-4096d75c64c9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400" y="1130300"/>
            <a:ext cx="10858500" cy="4330064"/>
            <a:chOff x="660400" y="1130300"/>
            <a:chExt cx="10858500" cy="4330064"/>
          </a:xfrm>
        </p:grpSpPr>
        <p:grpSp>
          <p:nvGrpSpPr>
            <p:cNvPr id="4" name="Group 4"/>
            <p:cNvGrpSpPr/>
            <p:nvPr/>
          </p:nvGrpSpPr>
          <p:grpSpPr>
            <a:xfrm flipH="false" flipV="false" rot="0">
              <a:off x="1086261" y="2667637"/>
              <a:ext cx="4890964" cy="1265012"/>
              <a:chOff x="1086261" y="2667637"/>
              <a:chExt cx="4890964" cy="1265012"/>
            </a:xfrm>
          </p:grpSpPr>
          <p:sp>
            <p:nvSpPr>
              <p:cNvPr id="5" name="AutoShape 5"/>
              <p:cNvSpPr/>
              <p:nvPr/>
            </p:nvSpPr>
            <p:spPr>
              <a:xfrm flipH="false" flipV="false" rot="0">
                <a:off x="1086261" y="2667637"/>
                <a:ext cx="4890964" cy="1265012"/>
              </a:xfrm>
              <a:prstGeom prst="roundRect">
                <a:avLst>
                  <a:gd fmla="val 7320" name="adj"/>
                </a:avLst>
              </a:prstGeom>
              <a:solidFill>
                <a:srgbClr val="CC00F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 flipH="false" flipV="false" rot="0">
                <a:off x="4932790" y="2893546"/>
                <a:ext cx="1044435" cy="1039103"/>
              </a:xfrm>
              <a:custGeom>
                <a:rect b="b" l="l" r="r" t="t"/>
                <a:pathLst>
                  <a:path h="1039103" w="1044435">
                    <a:moveTo>
                      <a:pt x="1044435" y="0"/>
                    </a:moveTo>
                    <a:lnTo>
                      <a:pt x="1044435" y="946504"/>
                    </a:lnTo>
                    <a:cubicBezTo>
                      <a:pt x="1044435" y="997645"/>
                      <a:pt x="1002977" y="1039103"/>
                      <a:pt x="951836" y="1039103"/>
                    </a:cubicBezTo>
                    <a:lnTo>
                      <a:pt x="0" y="1039103"/>
                    </a:lnTo>
                    <a:lnTo>
                      <a:pt x="10660" y="933359"/>
                    </a:lnTo>
                    <a:cubicBezTo>
                      <a:pt x="112524" y="435561"/>
                      <a:pt x="528790" y="52289"/>
                      <a:pt x="1042926" y="76"/>
                    </a:cubicBezTo>
                    <a:close/>
                  </a:path>
                </a:pathLst>
              </a:custGeom>
              <a:solidFill>
                <a:srgbClr val="CC00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1284869" y="2848941"/>
                <a:ext cx="3661133" cy="3931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公众号联动案例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1284869" y="3242093"/>
                <a:ext cx="3661133" cy="6233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某公众号通过视频号推广文章，提高文章阅读量和公众号影响力。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5265380" y="3405949"/>
                <a:ext cx="620632" cy="4676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flipH="false" flipV="false" rot="0">
              <a:off x="6214778" y="2667636"/>
              <a:ext cx="4890964" cy="1265012"/>
              <a:chOff x="6214778" y="2667636"/>
              <a:chExt cx="4890964" cy="1265012"/>
            </a:xfrm>
          </p:grpSpPr>
          <p:sp>
            <p:nvSpPr>
              <p:cNvPr id="11" name="AutoShape 11"/>
              <p:cNvSpPr/>
              <p:nvPr/>
            </p:nvSpPr>
            <p:spPr>
              <a:xfrm flipH="false" flipV="false" rot="0">
                <a:off x="6214778" y="2667636"/>
                <a:ext cx="4890964" cy="1265012"/>
              </a:xfrm>
              <a:prstGeom prst="roundRect">
                <a:avLst>
                  <a:gd fmla="val 7320" name="adj"/>
                </a:avLst>
              </a:prstGeom>
              <a:solidFill>
                <a:srgbClr val="0066F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 flipH="true" flipV="false" rot="0">
                <a:off x="6214778" y="2893545"/>
                <a:ext cx="1044435" cy="1039103"/>
              </a:xfrm>
              <a:custGeom>
                <a:rect b="b" l="l" r="r" t="t"/>
                <a:pathLst>
                  <a:path h="1039103" w="1044435">
                    <a:moveTo>
                      <a:pt x="1044435" y="0"/>
                    </a:moveTo>
                    <a:lnTo>
                      <a:pt x="1044435" y="946504"/>
                    </a:lnTo>
                    <a:cubicBezTo>
                      <a:pt x="1044435" y="997645"/>
                      <a:pt x="1002977" y="1039103"/>
                      <a:pt x="951836" y="1039103"/>
                    </a:cubicBezTo>
                    <a:lnTo>
                      <a:pt x="0" y="1039103"/>
                    </a:lnTo>
                    <a:lnTo>
                      <a:pt x="10660" y="933359"/>
                    </a:lnTo>
                    <a:cubicBezTo>
                      <a:pt x="112524" y="435561"/>
                      <a:pt x="528790" y="52289"/>
                      <a:pt x="1042926" y="76"/>
                    </a:cubicBezTo>
                    <a:close/>
                  </a:path>
                </a:pathLst>
              </a:custGeom>
              <a:solidFill>
                <a:srgbClr val="0066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7453997" y="2848941"/>
                <a:ext cx="3437513" cy="3931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社交裂变案例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7453997" y="3242093"/>
                <a:ext cx="3437513" cy="6233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某活动通过用户社交分享，实现快速传播和用户增长，提升品牌曝光。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6285754" y="3418543"/>
                <a:ext cx="620632" cy="4676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flipH="false" flipV="false" rot="0">
              <a:off x="6214778" y="4195352"/>
              <a:ext cx="4890964" cy="1265012"/>
              <a:chOff x="6214778" y="4195352"/>
              <a:chExt cx="4890964" cy="1265012"/>
            </a:xfrm>
          </p:grpSpPr>
          <p:sp>
            <p:nvSpPr>
              <p:cNvPr id="17" name="AutoShape 17"/>
              <p:cNvSpPr/>
              <p:nvPr/>
            </p:nvSpPr>
            <p:spPr>
              <a:xfrm flipH="false" flipV="false" rot="0">
                <a:off x="6214778" y="4195352"/>
                <a:ext cx="4890964" cy="1265012"/>
              </a:xfrm>
              <a:prstGeom prst="roundRect">
                <a:avLst>
                  <a:gd fmla="val 7320" name="adj"/>
                </a:avLst>
              </a:prstGeom>
              <a:solidFill>
                <a:srgbClr val="B059C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 flipH="true" flipV="true" rot="0">
                <a:off x="6214778" y="4195352"/>
                <a:ext cx="1044435" cy="1039103"/>
              </a:xfrm>
              <a:custGeom>
                <a:rect b="b" l="l" r="r" t="t"/>
                <a:pathLst>
                  <a:path h="1039103" w="1044435">
                    <a:moveTo>
                      <a:pt x="1044435" y="0"/>
                    </a:moveTo>
                    <a:lnTo>
                      <a:pt x="1044435" y="946504"/>
                    </a:lnTo>
                    <a:cubicBezTo>
                      <a:pt x="1044435" y="997645"/>
                      <a:pt x="1002977" y="1039103"/>
                      <a:pt x="951836" y="1039103"/>
                    </a:cubicBezTo>
                    <a:lnTo>
                      <a:pt x="0" y="1039103"/>
                    </a:lnTo>
                    <a:lnTo>
                      <a:pt x="10660" y="933359"/>
                    </a:lnTo>
                    <a:cubicBezTo>
                      <a:pt x="112524" y="435561"/>
                      <a:pt x="528790" y="52289"/>
                      <a:pt x="1042926" y="76"/>
                    </a:cubicBezTo>
                    <a:close/>
                  </a:path>
                </a:pathLst>
              </a:custGeom>
              <a:solidFill>
                <a:srgbClr val="B059C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7453997" y="4323193"/>
                <a:ext cx="3437513" cy="3931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知识分享案例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7453997" y="4716345"/>
                <a:ext cx="3437513" cy="6233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某专家在视频号分享专业知识，吸引大量用户关注，实现知识付费变现。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6285754" y="4248731"/>
                <a:ext cx="620632" cy="4676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flipH="false" flipV="false" rot="0">
              <a:off x="1099473" y="4195352"/>
              <a:ext cx="4890964" cy="1265012"/>
              <a:chOff x="1099473" y="4195352"/>
              <a:chExt cx="4890964" cy="1265012"/>
            </a:xfrm>
          </p:grpSpPr>
          <p:sp>
            <p:nvSpPr>
              <p:cNvPr id="23" name="AutoShape 23"/>
              <p:cNvSpPr/>
              <p:nvPr/>
            </p:nvSpPr>
            <p:spPr>
              <a:xfrm flipH="false" flipV="false" rot="0">
                <a:off x="1099473" y="4195352"/>
                <a:ext cx="4890964" cy="1265012"/>
              </a:xfrm>
              <a:prstGeom prst="roundRect">
                <a:avLst>
                  <a:gd fmla="val 7320" name="adj"/>
                </a:avLst>
              </a:prstGeom>
              <a:solidFill>
                <a:srgbClr val="33CCF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 flipH="false" flipV="true" rot="0">
                <a:off x="4946002" y="4195352"/>
                <a:ext cx="1044435" cy="1039103"/>
              </a:xfrm>
              <a:custGeom>
                <a:rect b="b" l="l" r="r" t="t"/>
                <a:pathLst>
                  <a:path h="1039103" w="1044435">
                    <a:moveTo>
                      <a:pt x="1044435" y="0"/>
                    </a:moveTo>
                    <a:lnTo>
                      <a:pt x="1044435" y="946504"/>
                    </a:lnTo>
                    <a:cubicBezTo>
                      <a:pt x="1044435" y="997645"/>
                      <a:pt x="1002977" y="1039103"/>
                      <a:pt x="951836" y="1039103"/>
                    </a:cubicBezTo>
                    <a:lnTo>
                      <a:pt x="0" y="1039103"/>
                    </a:lnTo>
                    <a:lnTo>
                      <a:pt x="10660" y="933359"/>
                    </a:lnTo>
                    <a:cubicBezTo>
                      <a:pt x="112524" y="435561"/>
                      <a:pt x="528790" y="52289"/>
                      <a:pt x="1042926" y="76"/>
                    </a:cubicBezTo>
                    <a:close/>
                  </a:path>
                </a:pathLst>
              </a:custGeom>
              <a:solidFill>
                <a:srgbClr val="33CC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TextBox 25"/>
              <p:cNvSpPr txBox="true"/>
              <p:nvPr/>
            </p:nvSpPr>
            <p:spPr>
              <a:xfrm flipH="false" flipV="false" rot="0">
                <a:off x="1284869" y="4323192"/>
                <a:ext cx="3661133" cy="3931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公益活动案例</a:t>
                </a:r>
                <a:endParaRPr lang="en-US" sz="1100"/>
              </a:p>
            </p:txBody>
          </p:sp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1284869" y="4716344"/>
                <a:ext cx="3661133" cy="6233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利用视频号传播公益信息，号召用户参与公益活动，提升平台社会形象。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5265380" y="4248731"/>
                <a:ext cx="620632" cy="4676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sp>
          <p:nvSpPr>
            <p:cNvPr id="28" name="TextBox 28"/>
            <p:cNvSpPr txBox="true"/>
            <p:nvPr/>
          </p:nvSpPr>
          <p:spPr>
            <a:xfrm flipH="false" flipV="false" rot="0">
              <a:off x="660400" y="1130300"/>
              <a:ext cx="10858500" cy="57997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展现社交商业潜力的案例</a:t>
              </a:r>
              <a:endParaRPr lang="en-US" sz="1100"/>
            </a:p>
          </p:txBody>
        </p:sp>
      </p:grpSp>
      <p:sp>
        <p:nvSpPr>
          <p:cNvPr id="29" name="TextBox 29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视频号典型案例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617406" y="1196839"/>
            <a:ext cx="8957187" cy="160781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48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差异对比与未来趋势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2846438" y="2804652"/>
            <a:ext cx="6499123" cy="62189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3200">
                <a:ln/>
                <a:solidFill>
                  <a:srgbClr val="FFFFF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总结平台差异与展望未来发展趋势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4fdba58-732d-46ab-b3f0-ddacae96558e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584199" y="1129704"/>
            <a:ext cx="10964595" cy="5937146"/>
            <a:chOff x="584199" y="1129704"/>
            <a:chExt cx="10964595" cy="5937146"/>
          </a:xfrm>
        </p:grpSpPr>
        <p:sp>
          <p:nvSpPr>
            <p:cNvPr id="4" name="AutoShape 4"/>
            <p:cNvSpPr/>
            <p:nvPr/>
          </p:nvSpPr>
          <p:spPr>
            <a:xfrm flipH="false" flipV="false" rot="0">
              <a:off x="584199" y="5647857"/>
              <a:ext cx="1323141" cy="1210141"/>
            </a:xfrm>
            <a:custGeom>
              <a:rect b="b" l="l" r="r" t="t"/>
              <a:pathLst>
                <a:path h="1570642" w="1755848">
                  <a:moveTo>
                    <a:pt x="1028945" y="2548"/>
                  </a:moveTo>
                  <a:lnTo>
                    <a:pt x="1031117" y="2598"/>
                  </a:lnTo>
                  <a:lnTo>
                    <a:pt x="1029829" y="3321"/>
                  </a:lnTo>
                  <a:lnTo>
                    <a:pt x="1028945" y="2548"/>
                  </a:lnTo>
                  <a:close/>
                  <a:moveTo>
                    <a:pt x="845410" y="431"/>
                  </a:moveTo>
                  <a:cubicBezTo>
                    <a:pt x="850796" y="1933"/>
                    <a:pt x="852831" y="6875"/>
                    <a:pt x="903128" y="7286"/>
                  </a:cubicBezTo>
                  <a:cubicBezTo>
                    <a:pt x="992826" y="8018"/>
                    <a:pt x="1021029" y="5641"/>
                    <a:pt x="1028731" y="3937"/>
                  </a:cubicBezTo>
                  <a:lnTo>
                    <a:pt x="1029829" y="3321"/>
                  </a:lnTo>
                  <a:lnTo>
                    <a:pt x="1031323" y="4628"/>
                  </a:lnTo>
                  <a:cubicBezTo>
                    <a:pt x="1036451" y="6912"/>
                    <a:pt x="1050684" y="11176"/>
                    <a:pt x="1086171" y="18540"/>
                  </a:cubicBezTo>
                  <a:cubicBezTo>
                    <a:pt x="1106229" y="22703"/>
                    <a:pt x="1127392" y="21552"/>
                    <a:pt x="1146950" y="27647"/>
                  </a:cubicBezTo>
                  <a:cubicBezTo>
                    <a:pt x="1183861" y="39151"/>
                    <a:pt x="1254525" y="71008"/>
                    <a:pt x="1254525" y="71008"/>
                  </a:cubicBezTo>
                  <a:cubicBezTo>
                    <a:pt x="1342300" y="125306"/>
                    <a:pt x="1431760" y="176970"/>
                    <a:pt x="1517850" y="233903"/>
                  </a:cubicBezTo>
                  <a:cubicBezTo>
                    <a:pt x="1563951" y="264390"/>
                    <a:pt x="1576732" y="291498"/>
                    <a:pt x="1610031" y="334547"/>
                  </a:cubicBezTo>
                  <a:cubicBezTo>
                    <a:pt x="1635390" y="367331"/>
                    <a:pt x="1636582" y="362198"/>
                    <a:pt x="1655417" y="400937"/>
                  </a:cubicBezTo>
                  <a:cubicBezTo>
                    <a:pt x="1662130" y="414744"/>
                    <a:pt x="1666152" y="429755"/>
                    <a:pt x="1672865" y="443562"/>
                  </a:cubicBezTo>
                  <a:cubicBezTo>
                    <a:pt x="1678979" y="456136"/>
                    <a:pt x="1687925" y="467219"/>
                    <a:pt x="1693810" y="479901"/>
                  </a:cubicBezTo>
                  <a:cubicBezTo>
                    <a:pt x="1703318" y="500388"/>
                    <a:pt x="1724159" y="557518"/>
                    <a:pt x="1728003" y="581219"/>
                  </a:cubicBezTo>
                  <a:cubicBezTo>
                    <a:pt x="1734607" y="621939"/>
                    <a:pt x="1737285" y="663199"/>
                    <a:pt x="1741925" y="704189"/>
                  </a:cubicBezTo>
                  <a:lnTo>
                    <a:pt x="1748887" y="765673"/>
                  </a:lnTo>
                  <a:lnTo>
                    <a:pt x="1755848" y="827157"/>
                  </a:lnTo>
                  <a:cubicBezTo>
                    <a:pt x="1722225" y="921501"/>
                    <a:pt x="1753237" y="813288"/>
                    <a:pt x="1748826" y="913787"/>
                  </a:cubicBezTo>
                  <a:cubicBezTo>
                    <a:pt x="1748290" y="926002"/>
                    <a:pt x="1739890" y="936700"/>
                    <a:pt x="1737633" y="948716"/>
                  </a:cubicBezTo>
                  <a:cubicBezTo>
                    <a:pt x="1734260" y="966661"/>
                    <a:pt x="1734727" y="985149"/>
                    <a:pt x="1732021" y="1003208"/>
                  </a:cubicBezTo>
                  <a:cubicBezTo>
                    <a:pt x="1728650" y="1025703"/>
                    <a:pt x="1724586" y="1048122"/>
                    <a:pt x="1719418" y="1070273"/>
                  </a:cubicBezTo>
                  <a:cubicBezTo>
                    <a:pt x="1708715" y="1116149"/>
                    <a:pt x="1691876" y="1160680"/>
                    <a:pt x="1684429" y="1207196"/>
                  </a:cubicBezTo>
                  <a:cubicBezTo>
                    <a:pt x="1667626" y="1312157"/>
                    <a:pt x="1679114" y="1263428"/>
                    <a:pt x="1652231" y="1353899"/>
                  </a:cubicBezTo>
                  <a:cubicBezTo>
                    <a:pt x="1603656" y="1461406"/>
                    <a:pt x="1595813" y="1482128"/>
                    <a:pt x="1554803" y="1547105"/>
                  </a:cubicBezTo>
                  <a:lnTo>
                    <a:pt x="1539658" y="1570642"/>
                  </a:lnTo>
                  <a:lnTo>
                    <a:pt x="127214" y="1570642"/>
                  </a:lnTo>
                  <a:lnTo>
                    <a:pt x="84394" y="1494383"/>
                  </a:lnTo>
                  <a:cubicBezTo>
                    <a:pt x="55207" y="1434797"/>
                    <a:pt x="17470" y="1338966"/>
                    <a:pt x="4847" y="1252616"/>
                  </a:cubicBezTo>
                  <a:cubicBezTo>
                    <a:pt x="-7776" y="1166266"/>
                    <a:pt x="8196" y="1032868"/>
                    <a:pt x="8657" y="976282"/>
                  </a:cubicBezTo>
                  <a:cubicBezTo>
                    <a:pt x="26054" y="861128"/>
                    <a:pt x="69125" y="680678"/>
                    <a:pt x="109230" y="561691"/>
                  </a:cubicBezTo>
                  <a:cubicBezTo>
                    <a:pt x="147449" y="497896"/>
                    <a:pt x="183206" y="432560"/>
                    <a:pt x="223888" y="370307"/>
                  </a:cubicBezTo>
                  <a:cubicBezTo>
                    <a:pt x="241199" y="343817"/>
                    <a:pt x="285118" y="295084"/>
                    <a:pt x="311959" y="271134"/>
                  </a:cubicBezTo>
                  <a:cubicBezTo>
                    <a:pt x="342529" y="243855"/>
                    <a:pt x="371787" y="214648"/>
                    <a:pt x="405611" y="191526"/>
                  </a:cubicBezTo>
                  <a:cubicBezTo>
                    <a:pt x="459639" y="154593"/>
                    <a:pt x="524306" y="108619"/>
                    <a:pt x="581018" y="83307"/>
                  </a:cubicBezTo>
                  <a:cubicBezTo>
                    <a:pt x="602913" y="73535"/>
                    <a:pt x="624514" y="63074"/>
                    <a:pt x="646704" y="53990"/>
                  </a:cubicBezTo>
                  <a:cubicBezTo>
                    <a:pt x="679176" y="40698"/>
                    <a:pt x="732547" y="21561"/>
                    <a:pt x="767587" y="14217"/>
                  </a:cubicBezTo>
                  <a:cubicBezTo>
                    <a:pt x="831287" y="867"/>
                    <a:pt x="840024" y="-1071"/>
                    <a:pt x="845410" y="431"/>
                  </a:cubicBezTo>
                  <a:close/>
                </a:path>
              </a:pathLst>
            </a:custGeom>
            <a:solidFill>
              <a:srgbClr val="CC00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2160000">
              <a:off x="1193718" y="6092321"/>
              <a:ext cx="202569" cy="16039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1017564" y="6755484"/>
              <a:ext cx="185505" cy="102514"/>
            </a:xfrm>
            <a:custGeom>
              <a:rect b="b" l="l" r="r" t="t"/>
              <a:pathLst>
                <a:path h="133052" w="246170">
                  <a:moveTo>
                    <a:pt x="92150" y="24"/>
                  </a:moveTo>
                  <a:cubicBezTo>
                    <a:pt x="122908" y="-573"/>
                    <a:pt x="156823" y="10134"/>
                    <a:pt x="186603" y="32286"/>
                  </a:cubicBezTo>
                  <a:cubicBezTo>
                    <a:pt x="216383" y="54438"/>
                    <a:pt x="236390" y="83841"/>
                    <a:pt x="244664" y="113472"/>
                  </a:cubicBezTo>
                  <a:lnTo>
                    <a:pt x="246170" y="133052"/>
                  </a:lnTo>
                  <a:lnTo>
                    <a:pt x="11501" y="133052"/>
                  </a:lnTo>
                  <a:lnTo>
                    <a:pt x="4294" y="118133"/>
                  </a:lnTo>
                  <a:cubicBezTo>
                    <a:pt x="-3980" y="88503"/>
                    <a:pt x="-520" y="58645"/>
                    <a:pt x="16635" y="35582"/>
                  </a:cubicBezTo>
                  <a:cubicBezTo>
                    <a:pt x="33790" y="12520"/>
                    <a:pt x="61392" y="620"/>
                    <a:pt x="92150" y="2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723502" y="6075196"/>
              <a:ext cx="165884" cy="773018"/>
            </a:xfrm>
            <a:custGeom>
              <a:rect b="b" l="l" r="r" t="t"/>
              <a:pathLst>
                <a:path h="1100667" w="220133">
                  <a:moveTo>
                    <a:pt x="220133" y="0"/>
                  </a:moveTo>
                  <a:cubicBezTo>
                    <a:pt x="206022" y="11289"/>
                    <a:pt x="188937" y="19636"/>
                    <a:pt x="177800" y="33867"/>
                  </a:cubicBezTo>
                  <a:cubicBezTo>
                    <a:pt x="137757" y="85033"/>
                    <a:pt x="67733" y="194733"/>
                    <a:pt x="67733" y="194733"/>
                  </a:cubicBezTo>
                  <a:cubicBezTo>
                    <a:pt x="62089" y="225778"/>
                    <a:pt x="56988" y="256926"/>
                    <a:pt x="50800" y="287867"/>
                  </a:cubicBezTo>
                  <a:cubicBezTo>
                    <a:pt x="32018" y="381779"/>
                    <a:pt x="31763" y="349050"/>
                    <a:pt x="25400" y="448733"/>
                  </a:cubicBezTo>
                  <a:cubicBezTo>
                    <a:pt x="1502" y="823141"/>
                    <a:pt x="24377" y="650611"/>
                    <a:pt x="0" y="821267"/>
                  </a:cubicBezTo>
                  <a:cubicBezTo>
                    <a:pt x="18934" y="972562"/>
                    <a:pt x="-16313" y="949715"/>
                    <a:pt x="33866" y="1066800"/>
                  </a:cubicBezTo>
                  <a:cubicBezTo>
                    <a:pt x="48459" y="1100850"/>
                    <a:pt x="33847" y="1083714"/>
                    <a:pt x="50800" y="1100667"/>
                  </a:cubicBezTo>
                </a:path>
              </a:pathLst>
            </a:custGeom>
            <a:ln w="41275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1642245" y="6003438"/>
              <a:ext cx="71143" cy="626242"/>
            </a:xfrm>
            <a:custGeom>
              <a:rect b="b" l="l" r="r" t="t"/>
              <a:pathLst>
                <a:path h="812800" w="94409">
                  <a:moveTo>
                    <a:pt x="0" y="0"/>
                  </a:moveTo>
                  <a:cubicBezTo>
                    <a:pt x="36746" y="73493"/>
                    <a:pt x="60591" y="112150"/>
                    <a:pt x="76200" y="203200"/>
                  </a:cubicBezTo>
                  <a:cubicBezTo>
                    <a:pt x="85273" y="256124"/>
                    <a:pt x="80207" y="310555"/>
                    <a:pt x="84666" y="364066"/>
                  </a:cubicBezTo>
                  <a:cubicBezTo>
                    <a:pt x="85861" y="378407"/>
                    <a:pt x="90311" y="392289"/>
                    <a:pt x="93133" y="406400"/>
                  </a:cubicBezTo>
                  <a:cubicBezTo>
                    <a:pt x="82546" y="724012"/>
                    <a:pt x="118393" y="571847"/>
                    <a:pt x="59266" y="719666"/>
                  </a:cubicBezTo>
                  <a:cubicBezTo>
                    <a:pt x="55952" y="727952"/>
                    <a:pt x="55750" y="737640"/>
                    <a:pt x="50800" y="745066"/>
                  </a:cubicBezTo>
                  <a:cubicBezTo>
                    <a:pt x="44158" y="755029"/>
                    <a:pt x="32360" y="760723"/>
                    <a:pt x="25400" y="770466"/>
                  </a:cubicBezTo>
                  <a:cubicBezTo>
                    <a:pt x="-21405" y="835992"/>
                    <a:pt x="26271" y="786526"/>
                    <a:pt x="0" y="812800"/>
                  </a:cubicBezTo>
                </a:path>
              </a:pathLst>
            </a:custGeom>
            <a:ln w="41275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TextBox 9"/>
            <p:cNvSpPr txBox="true"/>
            <p:nvPr/>
          </p:nvSpPr>
          <p:spPr>
            <a:xfrm flipH="false" flipV="false" rot="0">
              <a:off x="660399" y="1129704"/>
              <a:ext cx="10858500" cy="1226145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不同平台用户特征对比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 flipH="false" flipV="false" rot="780000">
              <a:off x="10004242" y="5621678"/>
              <a:ext cx="1544552" cy="1445172"/>
            </a:xfrm>
            <a:custGeom>
              <a:rect b="b" l="l" r="r" t="t"/>
              <a:pathLst>
                <a:path h="1555476" w="1662442">
                  <a:moveTo>
                    <a:pt x="0" y="0"/>
                  </a:moveTo>
                  <a:lnTo>
                    <a:pt x="1662442" y="0"/>
                  </a:lnTo>
                  <a:lnTo>
                    <a:pt x="1662442" y="1168236"/>
                  </a:lnTo>
                  <a:lnTo>
                    <a:pt x="0" y="1555476"/>
                  </a:lnTo>
                  <a:close/>
                </a:path>
              </a:pathLst>
            </a:custGeom>
            <a:solidFill>
              <a:srgbClr val="CC00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H="false" flipV="false" rot="0">
              <a:off x="9353549" y="5312760"/>
              <a:ext cx="1294123" cy="1328478"/>
            </a:xfrm>
            <a:custGeom>
              <a:rect b="b" l="l" r="r" t="t"/>
              <a:pathLst>
                <a:path h="1209233" w="1177962">
                  <a:moveTo>
                    <a:pt x="490371" y="0"/>
                  </a:moveTo>
                  <a:lnTo>
                    <a:pt x="687592" y="0"/>
                  </a:lnTo>
                  <a:cubicBezTo>
                    <a:pt x="714824" y="0"/>
                    <a:pt x="736899" y="22075"/>
                    <a:pt x="736899" y="49307"/>
                  </a:cubicBezTo>
                  <a:lnTo>
                    <a:pt x="736899" y="462077"/>
                  </a:lnTo>
                  <a:lnTo>
                    <a:pt x="1130448" y="462077"/>
                  </a:lnTo>
                  <a:cubicBezTo>
                    <a:pt x="1156689" y="462077"/>
                    <a:pt x="1177962" y="483350"/>
                    <a:pt x="1177962" y="509591"/>
                  </a:cubicBezTo>
                  <a:lnTo>
                    <a:pt x="1177962" y="699641"/>
                  </a:lnTo>
                  <a:cubicBezTo>
                    <a:pt x="1177962" y="725882"/>
                    <a:pt x="1156689" y="747155"/>
                    <a:pt x="1130448" y="747155"/>
                  </a:cubicBezTo>
                  <a:lnTo>
                    <a:pt x="736899" y="747155"/>
                  </a:lnTo>
                  <a:lnTo>
                    <a:pt x="736899" y="1159926"/>
                  </a:lnTo>
                  <a:cubicBezTo>
                    <a:pt x="736899" y="1187158"/>
                    <a:pt x="714824" y="1209233"/>
                    <a:pt x="687592" y="1209233"/>
                  </a:cubicBezTo>
                  <a:lnTo>
                    <a:pt x="490371" y="1209233"/>
                  </a:lnTo>
                  <a:cubicBezTo>
                    <a:pt x="463139" y="1209233"/>
                    <a:pt x="441064" y="1187158"/>
                    <a:pt x="441064" y="1159926"/>
                  </a:cubicBezTo>
                  <a:lnTo>
                    <a:pt x="441064" y="747155"/>
                  </a:lnTo>
                  <a:lnTo>
                    <a:pt x="47514" y="747155"/>
                  </a:lnTo>
                  <a:cubicBezTo>
                    <a:pt x="21273" y="747155"/>
                    <a:pt x="0" y="725882"/>
                    <a:pt x="0" y="699641"/>
                  </a:cubicBezTo>
                  <a:lnTo>
                    <a:pt x="0" y="509591"/>
                  </a:lnTo>
                  <a:cubicBezTo>
                    <a:pt x="0" y="483350"/>
                    <a:pt x="21273" y="462077"/>
                    <a:pt x="47514" y="462077"/>
                  </a:cubicBezTo>
                  <a:lnTo>
                    <a:pt x="441064" y="462077"/>
                  </a:lnTo>
                  <a:lnTo>
                    <a:pt x="441064" y="49307"/>
                  </a:lnTo>
                  <a:cubicBezTo>
                    <a:pt x="441064" y="22075"/>
                    <a:pt x="463139" y="0"/>
                    <a:pt x="490371" y="0"/>
                  </a:cubicBezTo>
                  <a:close/>
                </a:path>
              </a:pathLst>
            </a:custGeom>
            <a:solidFill>
              <a:srgbClr val="FBEA62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2" name="Group 12"/>
            <p:cNvGrpSpPr/>
            <p:nvPr/>
          </p:nvGrpSpPr>
          <p:grpSpPr>
            <a:xfrm flipH="false" flipV="false" rot="0">
              <a:off x="660399" y="2584709"/>
              <a:ext cx="2114693" cy="2609591"/>
              <a:chOff x="660399" y="2584709"/>
              <a:chExt cx="2114693" cy="2609591"/>
            </a:xfrm>
          </p:grpSpPr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660399" y="3382033"/>
                <a:ext cx="2114692" cy="68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年龄差异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660399" y="4066033"/>
                <a:ext cx="2114692" cy="11282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抖音用户年轻化，快手用户年龄跨度大，视频号各年龄段分布均衡。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660400" y="2584709"/>
                <a:ext cx="2114692" cy="7973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32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flipH="false" flipV="false" rot="0">
              <a:off x="2833687" y="2584709"/>
              <a:ext cx="2114693" cy="2609591"/>
              <a:chOff x="2833687" y="2584709"/>
              <a:chExt cx="2114693" cy="2609591"/>
            </a:xfrm>
          </p:grpSpPr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2833687" y="3382033"/>
                <a:ext cx="2114692" cy="68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地域差异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2833687" y="4066033"/>
                <a:ext cx="2114692" cy="11282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抖音一二线城市用户多，快手下沉市场优势大，视频号覆盖全国。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2833688" y="2584709"/>
                <a:ext cx="2114692" cy="7973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32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flipH="false" flipV="false" rot="0">
              <a:off x="5006975" y="2584709"/>
              <a:ext cx="2114693" cy="2609591"/>
              <a:chOff x="5006975" y="2584709"/>
              <a:chExt cx="2114693" cy="2609591"/>
            </a:xfrm>
          </p:grpSpPr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5006975" y="3382033"/>
                <a:ext cx="2114692" cy="68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消费能力差异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5006975" y="4066033"/>
                <a:ext cx="2114692" cy="11282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不同平台用户消费能力因地域和年龄等因素存在差异。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5006976" y="2584709"/>
                <a:ext cx="2114692" cy="7973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32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flipH="false" flipV="false" rot="0">
              <a:off x="7180263" y="2584709"/>
              <a:ext cx="2114693" cy="2609591"/>
              <a:chOff x="7180263" y="2584709"/>
              <a:chExt cx="2114693" cy="2609591"/>
            </a:xfrm>
          </p:grpSpPr>
          <p:sp>
            <p:nvSpPr>
              <p:cNvPr id="25" name="TextBox 25"/>
              <p:cNvSpPr txBox="true"/>
              <p:nvPr/>
            </p:nvSpPr>
            <p:spPr>
              <a:xfrm flipH="false" flipV="false" rot="0">
                <a:off x="7180263" y="3382033"/>
                <a:ext cx="2114692" cy="68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兴趣偏好差异</a:t>
                </a:r>
                <a:endParaRPr lang="en-US" sz="1100"/>
              </a:p>
            </p:txBody>
          </p:sp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7180263" y="4066033"/>
                <a:ext cx="2114692" cy="11282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用户在不同平台对内容的兴趣和偏好有所不同。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7180264" y="2584709"/>
                <a:ext cx="2114692" cy="7973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32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flipH="false" flipV="false" rot="0">
              <a:off x="9353549" y="2584709"/>
              <a:ext cx="2114693" cy="2609591"/>
              <a:chOff x="9353549" y="2584709"/>
              <a:chExt cx="2114693" cy="2609591"/>
            </a:xfrm>
          </p:grpSpPr>
          <p:sp>
            <p:nvSpPr>
              <p:cNvPr id="29" name="TextBox 29"/>
              <p:cNvSpPr txBox="true"/>
              <p:nvPr/>
            </p:nvSpPr>
            <p:spPr>
              <a:xfrm flipH="false" flipV="false" rot="0">
                <a:off x="9353549" y="3382033"/>
                <a:ext cx="2114692" cy="68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社交活跃度差异</a:t>
                </a:r>
                <a:endParaRPr lang="en-US" sz="1100"/>
              </a:p>
            </p:txBody>
          </p:sp>
          <p:sp>
            <p:nvSpPr>
              <p:cNvPr id="30" name="TextBox 30"/>
              <p:cNvSpPr txBox="true"/>
              <p:nvPr/>
            </p:nvSpPr>
            <p:spPr>
              <a:xfrm flipH="false" flipV="false" rot="0">
                <a:off x="9353549" y="4066033"/>
                <a:ext cx="2114692" cy="11282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视频号社交属性强，用户社交活跃度高，快手次之，抖音相对较低。</a:t>
                </a:r>
                <a:endParaRPr lang="en-US" sz="1100"/>
              </a:p>
            </p:txBody>
          </p:sp>
          <p:sp>
            <p:nvSpPr>
              <p:cNvPr id="31" name="TextBox 31"/>
              <p:cNvSpPr txBox="true"/>
              <p:nvPr/>
            </p:nvSpPr>
            <p:spPr>
              <a:xfrm flipH="false" flipV="false" rot="0">
                <a:off x="9353550" y="2584709"/>
                <a:ext cx="2114692" cy="7973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32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</p:grpSp>
      </p:grpSp>
      <p:sp>
        <p:nvSpPr>
          <p:cNvPr id="32" name="TextBox 32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用户群体差异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b6453cf-21fe-4514-b851-39e0934c38cc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399" y="1130299"/>
            <a:ext cx="10858501" cy="5003801"/>
            <a:chOff x="660399" y="1130299"/>
            <a:chExt cx="10858501" cy="5003801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60399" y="1130299"/>
              <a:ext cx="10858500" cy="825499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平台内容特色与侧重点对比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flipH="false" flipV="false" rot="0">
              <a:off x="725650" y="2335421"/>
              <a:ext cx="10728000" cy="0"/>
            </a:xfrm>
            <a:prstGeom prst="line">
              <a:avLst/>
            </a:prstGeom>
            <a:ln w="6350">
              <a:solidFill>
                <a:srgbClr val="FFFFFF">
                  <a:alpha val="4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flipH="false" flipV="false" rot="0">
              <a:off x="660400" y="2283934"/>
              <a:ext cx="2105177" cy="3850166"/>
              <a:chOff x="703580" y="2283934"/>
              <a:chExt cx="2560286" cy="3850166"/>
            </a:xfrm>
          </p:grpSpPr>
          <p:sp>
            <p:nvSpPr>
              <p:cNvPr id="7" name="AutoShape 7"/>
              <p:cNvSpPr/>
              <p:nvPr/>
            </p:nvSpPr>
            <p:spPr>
              <a:xfrm flipH="false" flipV="false" rot="0">
                <a:off x="703580" y="2611120"/>
                <a:ext cx="2560286" cy="3522980"/>
              </a:xfrm>
              <a:prstGeom prst="roundRect">
                <a:avLst>
                  <a:gd fmla="val 6119" name="adj"/>
                </a:avLst>
              </a:prstGeom>
              <a:solidFill>
                <a:srgbClr val="7365DF">
                  <a:alpha val="100000"/>
                </a:srgbClr>
              </a:solidFill>
              <a:ln w="254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97191" y="3230880"/>
                <a:ext cx="2373064" cy="6081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娱乐性差异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797191" y="3839047"/>
                <a:ext cx="2373064" cy="22112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抖音娱乐内容丰富，快手生活化娱乐多，视频号相对严肃。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1445260" y="2765526"/>
                <a:ext cx="1076926" cy="409474"/>
              </a:xfrm>
              <a:prstGeom prst="roundRect">
                <a:avLst>
                  <a:gd fmla="val 50000" name="adj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0" lIns="0" rIns="0" rtlCol="false" tIns="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C022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1" name="AutoShape 11"/>
              <p:cNvSpPr/>
              <p:nvPr/>
            </p:nvSpPr>
            <p:spPr>
              <a:xfrm flipH="false" flipV="false" rot="0">
                <a:off x="1918048" y="2283934"/>
                <a:ext cx="131348" cy="108000"/>
              </a:xfrm>
              <a:prstGeom prst="ellipse">
                <a:avLst/>
              </a:prstGeom>
              <a:solidFill>
                <a:srgbClr val="0C022E">
                  <a:alpha val="100000"/>
                </a:srgbClr>
              </a:solidFill>
              <a:ln w="15875">
                <a:solidFill>
                  <a:srgbClr val="7365DF">
                    <a:alpha val="100000"/>
                    <a:lumMod val="75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 flipH="false" flipV="false" rot="0">
              <a:off x="2848731" y="2283934"/>
              <a:ext cx="2105177" cy="3850166"/>
              <a:chOff x="3440864" y="2283934"/>
              <a:chExt cx="2560286" cy="3850166"/>
            </a:xfrm>
          </p:grpSpPr>
          <p:sp>
            <p:nvSpPr>
              <p:cNvPr id="13" name="AutoShape 13"/>
              <p:cNvSpPr/>
              <p:nvPr/>
            </p:nvSpPr>
            <p:spPr>
              <a:xfrm flipH="false" flipV="false" rot="0">
                <a:off x="3440864" y="2611120"/>
                <a:ext cx="2560286" cy="3522980"/>
              </a:xfrm>
              <a:prstGeom prst="roundRect">
                <a:avLst>
                  <a:gd fmla="val 6119" name="adj"/>
                </a:avLst>
              </a:prstGeom>
              <a:solidFill>
                <a:srgbClr val="CC00FF">
                  <a:alpha val="100000"/>
                </a:srgbClr>
              </a:solidFill>
              <a:ln w="254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3534475" y="3230880"/>
                <a:ext cx="2373064" cy="6081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知识性差异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3534475" y="3839047"/>
                <a:ext cx="2373064" cy="22112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视频号知识科普内容多，抖音知识内容逐渐丰富，快手相对较少。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4182544" y="2765526"/>
                <a:ext cx="1076926" cy="409474"/>
              </a:xfrm>
              <a:prstGeom prst="roundRect">
                <a:avLst>
                  <a:gd fmla="val 50000" name="adj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0" lIns="0" rIns="0" rtlCol="false" tIns="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C022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 flipH="false" flipV="false" rot="0">
                <a:off x="4655332" y="2283934"/>
                <a:ext cx="131348" cy="108000"/>
              </a:xfrm>
              <a:prstGeom prst="ellipse">
                <a:avLst/>
              </a:prstGeom>
              <a:solidFill>
                <a:srgbClr val="0C022E">
                  <a:alpha val="100000"/>
                </a:srgbClr>
              </a:solidFill>
              <a:ln w="15875">
                <a:solidFill>
                  <a:srgbClr val="7365DF">
                    <a:alpha val="100000"/>
                    <a:lumMod val="75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 flipH="false" flipV="false" rot="0">
              <a:off x="5037062" y="2283934"/>
              <a:ext cx="2105177" cy="3850166"/>
              <a:chOff x="6178149" y="2283934"/>
              <a:chExt cx="2560286" cy="3850166"/>
            </a:xfrm>
          </p:grpSpPr>
          <p:sp>
            <p:nvSpPr>
              <p:cNvPr id="19" name="AutoShape 19"/>
              <p:cNvSpPr/>
              <p:nvPr/>
            </p:nvSpPr>
            <p:spPr>
              <a:xfrm flipH="false" flipV="false" rot="0">
                <a:off x="6178149" y="2611120"/>
                <a:ext cx="2560286" cy="3522980"/>
              </a:xfrm>
              <a:prstGeom prst="roundRect">
                <a:avLst>
                  <a:gd fmla="val 6119" name="adj"/>
                </a:avLst>
              </a:prstGeom>
              <a:solidFill>
                <a:srgbClr val="0066FF">
                  <a:alpha val="100000"/>
                </a:srgbClr>
              </a:solidFill>
              <a:ln w="254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6271760" y="3230880"/>
                <a:ext cx="2373064" cy="6081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生活性差异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6271760" y="3839047"/>
                <a:ext cx="2373064" cy="22112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快手生活记录内容突出，抖音生活内容多样，视频号生活内容实用。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6919829" y="2765526"/>
                <a:ext cx="1076926" cy="409474"/>
              </a:xfrm>
              <a:prstGeom prst="roundRect">
                <a:avLst>
                  <a:gd fmla="val 50000" name="adj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0" lIns="0" rIns="0" rtlCol="false" tIns="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C022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3" name="AutoShape 23"/>
              <p:cNvSpPr/>
              <p:nvPr/>
            </p:nvSpPr>
            <p:spPr>
              <a:xfrm flipH="false" flipV="false" rot="0">
                <a:off x="7392617" y="2283934"/>
                <a:ext cx="131348" cy="108000"/>
              </a:xfrm>
              <a:prstGeom prst="ellipse">
                <a:avLst/>
              </a:prstGeom>
              <a:solidFill>
                <a:srgbClr val="0C022E">
                  <a:alpha val="100000"/>
                </a:srgbClr>
              </a:solidFill>
              <a:ln w="15875">
                <a:solidFill>
                  <a:srgbClr val="7365DF">
                    <a:alpha val="100000"/>
                    <a:lumMod val="75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 flipH="false" flipV="false" rot="0">
              <a:off x="7225393" y="2283934"/>
              <a:ext cx="2105177" cy="3850166"/>
              <a:chOff x="8915434" y="2283934"/>
              <a:chExt cx="2560286" cy="3850166"/>
            </a:xfrm>
          </p:grpSpPr>
          <p:sp>
            <p:nvSpPr>
              <p:cNvPr id="25" name="AutoShape 25"/>
              <p:cNvSpPr/>
              <p:nvPr/>
            </p:nvSpPr>
            <p:spPr>
              <a:xfrm flipH="false" flipV="false" rot="0">
                <a:off x="8915434" y="2611120"/>
                <a:ext cx="2560286" cy="3522980"/>
              </a:xfrm>
              <a:prstGeom prst="roundRect">
                <a:avLst>
                  <a:gd fmla="val 6119" name="adj"/>
                </a:avLst>
              </a:prstGeom>
              <a:solidFill>
                <a:srgbClr val="B059CF">
                  <a:alpha val="100000"/>
                </a:srgbClr>
              </a:solidFill>
              <a:ln w="254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9009045" y="3230880"/>
                <a:ext cx="2373064" cy="6081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文化性差异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9009045" y="3839047"/>
                <a:ext cx="2373064" cy="22112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各平台在传播传统文化方面各有侧重，形式和内容有所不同。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9657114" y="2765526"/>
                <a:ext cx="1076926" cy="409474"/>
              </a:xfrm>
              <a:prstGeom prst="roundRect">
                <a:avLst>
                  <a:gd fmla="val 50000" name="adj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0" lIns="0" rIns="0" rtlCol="false" tIns="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C022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9" name="AutoShape 29"/>
              <p:cNvSpPr/>
              <p:nvPr/>
            </p:nvSpPr>
            <p:spPr>
              <a:xfrm flipH="false" flipV="false" rot="0">
                <a:off x="10129902" y="2283934"/>
                <a:ext cx="131348" cy="108000"/>
              </a:xfrm>
              <a:prstGeom prst="ellipse">
                <a:avLst/>
              </a:prstGeom>
              <a:solidFill>
                <a:srgbClr val="0C022E">
                  <a:alpha val="100000"/>
                </a:srgbClr>
              </a:solidFill>
              <a:ln w="15875">
                <a:solidFill>
                  <a:srgbClr val="7365DF">
                    <a:alpha val="100000"/>
                    <a:lumMod val="75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 flipH="false" flipV="false" rot="0">
              <a:off x="9413723" y="2283934"/>
              <a:ext cx="2105177" cy="3850166"/>
              <a:chOff x="703580" y="2283934"/>
              <a:chExt cx="2560286" cy="3850166"/>
            </a:xfrm>
          </p:grpSpPr>
          <p:sp>
            <p:nvSpPr>
              <p:cNvPr id="31" name="AutoShape 31"/>
              <p:cNvSpPr/>
              <p:nvPr/>
            </p:nvSpPr>
            <p:spPr>
              <a:xfrm flipH="false" flipV="false" rot="0">
                <a:off x="703580" y="2611120"/>
                <a:ext cx="2560286" cy="3522980"/>
              </a:xfrm>
              <a:prstGeom prst="roundRect">
                <a:avLst>
                  <a:gd fmla="val 6119" name="adj"/>
                </a:avLst>
              </a:prstGeom>
              <a:solidFill>
                <a:srgbClr val="7365DF">
                  <a:alpha val="100000"/>
                </a:srgbClr>
              </a:solidFill>
              <a:ln w="254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32" name="TextBox 32"/>
              <p:cNvSpPr txBox="true"/>
              <p:nvPr/>
            </p:nvSpPr>
            <p:spPr>
              <a:xfrm flipH="false" flipV="false" rot="0">
                <a:off x="797191" y="3230880"/>
                <a:ext cx="2373064" cy="6081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创新性差异</a:t>
                </a:r>
                <a:endParaRPr lang="en-US" sz="1100"/>
              </a:p>
            </p:txBody>
          </p:sp>
          <p:sp>
            <p:nvSpPr>
              <p:cNvPr id="33" name="TextBox 33"/>
              <p:cNvSpPr txBox="true"/>
              <p:nvPr/>
            </p:nvSpPr>
            <p:spPr>
              <a:xfrm flipH="false" flipV="false" rot="0">
                <a:off x="797191" y="3839047"/>
                <a:ext cx="2373064" cy="22112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抖音技术创新应用多，快手内容创新贴近生活，视频号创新结合社交。</a:t>
                </a:r>
                <a:endParaRPr lang="en-US" sz="1100"/>
              </a:p>
            </p:txBody>
          </p:sp>
          <p:sp>
            <p:nvSpPr>
              <p:cNvPr id="34" name="TextBox 34"/>
              <p:cNvSpPr txBox="true"/>
              <p:nvPr/>
            </p:nvSpPr>
            <p:spPr>
              <a:xfrm flipH="false" flipV="false" rot="0">
                <a:off x="1445260" y="2765526"/>
                <a:ext cx="1076926" cy="409474"/>
              </a:xfrm>
              <a:prstGeom prst="roundRect">
                <a:avLst>
                  <a:gd fmla="val 50000" name="adj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0" lIns="0" rIns="0" rtlCol="false" tIns="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C022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35" name="AutoShape 35"/>
              <p:cNvSpPr/>
              <p:nvPr/>
            </p:nvSpPr>
            <p:spPr>
              <a:xfrm flipH="false" flipV="false" rot="0">
                <a:off x="1918048" y="2283934"/>
                <a:ext cx="131348" cy="108000"/>
              </a:xfrm>
              <a:prstGeom prst="ellipse">
                <a:avLst/>
              </a:prstGeom>
              <a:solidFill>
                <a:srgbClr val="0C022E">
                  <a:alpha val="100000"/>
                </a:srgbClr>
              </a:solidFill>
              <a:ln w="15875">
                <a:solidFill>
                  <a:srgbClr val="7365DF">
                    <a:alpha val="100000"/>
                    <a:lumMod val="75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</p:grpSp>
      <p:sp>
        <p:nvSpPr>
          <p:cNvPr id="36" name="TextBox 36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内容类型差异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051b2ee-a3b7-47d1-af19-2d3cedf9fdc5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400" y="1130300"/>
            <a:ext cx="10858500" cy="4749800"/>
            <a:chOff x="660400" y="1130300"/>
            <a:chExt cx="10858500" cy="4749800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60400" y="1130300"/>
              <a:ext cx="10858500" cy="11596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平台发展路径与策略对比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660400" y="2438401"/>
              <a:ext cx="1953782" cy="3441699"/>
              <a:chOff x="3313087" y="2438401"/>
              <a:chExt cx="1953782" cy="3441699"/>
            </a:xfrm>
          </p:grpSpPr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3610795" y="2438401"/>
                <a:ext cx="1358366" cy="1358364"/>
              </a:xfrm>
              <a:prstGeom prst="ellipse">
                <a:avLst/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3200">
                    <a:ln/>
                    <a:solidFill>
                      <a:srgbClr val="7365D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true" flipV="false" rot="0">
                <a:off x="3313087" y="4054283"/>
                <a:ext cx="1953782" cy="6073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社交策略差异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true" flipV="false" rot="0">
                <a:off x="3313088" y="4661631"/>
                <a:ext cx="1953780" cy="1218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视频号强依赖社交，快手注重社区社交，抖音社交功能逐步完善。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2886579" y="2438401"/>
              <a:ext cx="1953782" cy="3441699"/>
              <a:chOff x="7437970" y="2438401"/>
              <a:chExt cx="1953782" cy="3441699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3200">
                    <a:ln/>
                    <a:solidFill>
                      <a:srgbClr val="7365D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true" flipV="false" rot="0">
                <a:off x="7437970" y="4054283"/>
                <a:ext cx="1953782" cy="6073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活动策略差异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true" flipV="false" rot="0">
                <a:off x="7437971" y="4661631"/>
                <a:ext cx="1953780" cy="1218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各平台活动形式和目的不同，吸引用户参与和提升品牌影响力。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5112758" y="2438401"/>
              <a:ext cx="1953782" cy="3441699"/>
              <a:chOff x="7437970" y="2438401"/>
              <a:chExt cx="1953782" cy="3441699"/>
            </a:xfrm>
          </p:grpSpPr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3200">
                    <a:ln/>
                    <a:solidFill>
                      <a:srgbClr val="7365D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true" flipV="false" rot="0">
                <a:off x="7437970" y="4054283"/>
                <a:ext cx="1953782" cy="6073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跨界合作差异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true" flipV="false" rot="0">
                <a:off x="7437971" y="4661631"/>
                <a:ext cx="1953780" cy="1218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与其他行业合作，拓展内容和用户群体，合作方式和领域有所区别。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7338937" y="2438401"/>
              <a:ext cx="1953782" cy="3441699"/>
              <a:chOff x="7437970" y="2438401"/>
              <a:chExt cx="1953782" cy="3441699"/>
            </a:xfrm>
          </p:grpSpPr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3200">
                    <a:ln/>
                    <a:solidFill>
                      <a:srgbClr val="7365D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true" flipV="false" rot="0">
                <a:off x="7437970" y="4054283"/>
                <a:ext cx="1953782" cy="6073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用户激励差异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true" flipV="false" rot="0">
                <a:off x="7437971" y="4661631"/>
                <a:ext cx="1953780" cy="1218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奖励机制和激励方式不同，提高用户创作和参与积极性。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flipH="false" flipV="false" rot="0">
              <a:off x="9565118" y="2438401"/>
              <a:ext cx="1953782" cy="3441699"/>
              <a:chOff x="7437970" y="2438401"/>
              <a:chExt cx="1953782" cy="3441699"/>
            </a:xfrm>
          </p:grpSpPr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7365DF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3200">
                    <a:ln/>
                    <a:solidFill>
                      <a:srgbClr val="7365D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true" flipV="false" rot="0">
                <a:off x="7437970" y="4054283"/>
                <a:ext cx="1953782" cy="6073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品牌建设差异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true" flipV="false" rot="0">
                <a:off x="7437971" y="4661631"/>
                <a:ext cx="1953780" cy="1218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品牌形象塑造和传播策略不同，提升平台知名度和美誉度。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增长策略差异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81a2e2-6d0f-4219-b172-6e13d5f98058"/>
          <p:cNvSpPr txBox="true"/>
          <p:nvPr/>
        </p:nvSpPr>
        <p:spPr>
          <a:xfrm flipH="false" flipV="false" rot="0"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defRPr/>
            </a:pPr>
            <a:r>
              <a:rPr b="false" i="false" lang="en-US" sz="100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flipH="false" flipV="false" rot="0">
            <a:off x="660400" y="1150137"/>
            <a:ext cx="10858500" cy="4513493"/>
            <a:chOff x="660400" y="1150137"/>
            <a:chExt cx="10858500" cy="4513493"/>
          </a:xfrm>
        </p:grpSpPr>
        <p:sp>
          <p:nvSpPr>
            <p:cNvPr id="4" name="TextBox 4"/>
            <p:cNvSpPr txBox="true"/>
            <p:nvPr/>
          </p:nvSpPr>
          <p:spPr>
            <a:xfrm flipH="false" flipV="false" rot="0">
              <a:off x="660400" y="1150137"/>
              <a:ext cx="10858500" cy="66737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true" i="false" lang="en-US" strike="noStrike" sz="240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洞察平台发展走向与机遇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956027" y="2376829"/>
              <a:ext cx="2428845" cy="3286801"/>
              <a:chOff x="660399" y="2376829"/>
              <a:chExt cx="1942591" cy="3286801"/>
            </a:xfrm>
          </p:grpSpPr>
          <p:sp>
            <p:nvSpPr>
              <p:cNvPr id="6" name="AutoShape 6"/>
              <p:cNvSpPr/>
              <p:nvPr/>
            </p:nvSpPr>
            <p:spPr>
              <a:xfrm flipH="false" flipV="false" rot="0">
                <a:off x="660399" y="2600286"/>
                <a:ext cx="1942591" cy="3063344"/>
              </a:xfrm>
              <a:prstGeom prst="roundRect">
                <a:avLst>
                  <a:gd fmla="val 5758" name="adj"/>
                </a:avLst>
              </a:prstGeom>
              <a:solidFill>
                <a:srgbClr val="7365D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1013045" y="2376829"/>
                <a:ext cx="1237298" cy="4469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7365DF">
                      <a:alpha val="100000"/>
                      <a:lumMod val="60000"/>
                      <a:lumOff val="40000"/>
                    </a:srgbClr>
                  </a:gs>
                  <a:gs pos="60000">
                    <a:srgbClr val="7365D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26658" y="2959100"/>
                <a:ext cx="1810072" cy="591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7365D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成功经验总结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726658" y="3562053"/>
                <a:ext cx="1810072" cy="18054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注重用户体验、内容创新和社交互动是平台成功的关键因素。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flipH="false" flipV="false" rot="0">
              <a:off x="3568827" y="2376829"/>
              <a:ext cx="2428845" cy="3286801"/>
              <a:chOff x="2889377" y="2376829"/>
              <a:chExt cx="1942591" cy="3286801"/>
            </a:xfrm>
          </p:grpSpPr>
          <p:sp>
            <p:nvSpPr>
              <p:cNvPr id="11" name="AutoShape 11"/>
              <p:cNvSpPr/>
              <p:nvPr/>
            </p:nvSpPr>
            <p:spPr>
              <a:xfrm flipH="false" flipV="false" rot="0">
                <a:off x="2889377" y="2600286"/>
                <a:ext cx="1942591" cy="3063344"/>
              </a:xfrm>
              <a:prstGeom prst="roundRect">
                <a:avLst>
                  <a:gd fmla="val 5758" name="adj"/>
                </a:avLst>
              </a:prstGeom>
              <a:solidFill>
                <a:srgbClr val="CC00F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3242023" y="2376829"/>
                <a:ext cx="1237298" cy="4469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CC00FF">
                      <a:alpha val="100000"/>
                      <a:lumMod val="60000"/>
                      <a:lumOff val="40000"/>
                    </a:srgbClr>
                  </a:gs>
                  <a:gs pos="60000">
                    <a:srgbClr val="CC00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2955636" y="2959100"/>
                <a:ext cx="1810072" cy="591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CC00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未来发展趋势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2955636" y="3562053"/>
                <a:ext cx="1810072" cy="18054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内容垂直化、社交电商融合、技术驱动创新是未来发展方向。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flipH="false" flipV="false" rot="0">
              <a:off x="6181627" y="2376829"/>
              <a:ext cx="2428845" cy="3286801"/>
              <a:chOff x="5118355" y="2376829"/>
              <a:chExt cx="1942591" cy="3286801"/>
            </a:xfrm>
          </p:grpSpPr>
          <p:sp>
            <p:nvSpPr>
              <p:cNvPr id="16" name="AutoShape 16"/>
              <p:cNvSpPr/>
              <p:nvPr/>
            </p:nvSpPr>
            <p:spPr>
              <a:xfrm flipH="false" flipV="false" rot="0">
                <a:off x="5118355" y="2600286"/>
                <a:ext cx="1942591" cy="3063344"/>
              </a:xfrm>
              <a:prstGeom prst="roundRect">
                <a:avLst>
                  <a:gd fmla="val 5758" name="adj"/>
                </a:avLst>
              </a:prstGeom>
              <a:solidFill>
                <a:srgbClr val="0066F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5471001" y="2376829"/>
                <a:ext cx="1237298" cy="4469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66FF">
                      <a:alpha val="100000"/>
                      <a:lumMod val="60000"/>
                      <a:lumOff val="40000"/>
                    </a:srgbClr>
                  </a:gs>
                  <a:gs pos="60000">
                    <a:srgbClr val="0066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5184614" y="2959100"/>
                <a:ext cx="1810072" cy="591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0066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�挑战与机遇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5184614" y="3562053"/>
                <a:ext cx="1810072" cy="18054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面临内容监管、竞争加剧等挑战，同时也迎来新的发展机遇。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flipH="false" flipV="false" rot="0">
              <a:off x="8794428" y="2376829"/>
              <a:ext cx="2428845" cy="3286801"/>
              <a:chOff x="7347333" y="2376829"/>
              <a:chExt cx="1942591" cy="3286801"/>
            </a:xfrm>
          </p:grpSpPr>
          <p:sp>
            <p:nvSpPr>
              <p:cNvPr id="21" name="AutoShape 21"/>
              <p:cNvSpPr/>
              <p:nvPr/>
            </p:nvSpPr>
            <p:spPr>
              <a:xfrm flipH="false" flipV="false" rot="0">
                <a:off x="7347333" y="2600286"/>
                <a:ext cx="1942591" cy="3063344"/>
              </a:xfrm>
              <a:prstGeom prst="roundRect">
                <a:avLst>
                  <a:gd fmla="val 5758" name="adj"/>
                </a:avLst>
              </a:prstGeom>
              <a:solidFill>
                <a:srgbClr val="B059CF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7699979" y="2376829"/>
                <a:ext cx="1237298" cy="4469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B059CF">
                      <a:alpha val="100000"/>
                      <a:lumMod val="60000"/>
                      <a:lumOff val="40000"/>
                    </a:srgbClr>
                  </a:gs>
                  <a:gs pos="60000">
                    <a:srgbClr val="B059C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7413592" y="2959100"/>
                <a:ext cx="1810072" cy="591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B059C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战略建议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7413592" y="3562053"/>
                <a:ext cx="1810072" cy="18054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平台应优化内容生态，加强技术创新，提升用户体验，实现可持续发展。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true"/>
          <p:nvPr/>
        </p:nvSpPr>
        <p:spPr>
          <a:xfrm flipH="false" flipV="false" rot="0">
            <a:off x="1563329" y="304799"/>
            <a:ext cx="9661719" cy="60960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30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总结与未来趋势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4998656" y="3033503"/>
            <a:ext cx="6520244" cy="132343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b="false" i="false" lang="en-US" sz="4800">
                <a:ln/>
                <a:solidFill>
                  <a:srgbClr val="FFFFFF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9314738" y="4628535"/>
            <a:ext cx="2204162" cy="406282"/>
          </a:xfrm>
          <a:prstGeom prst="round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FFFFF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报告人名称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8398325" y="5099576"/>
            <a:ext cx="3120575" cy="406282"/>
          </a:xfrm>
          <a:prstGeom prst="round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1800">
                <a:ln/>
                <a:solidFill>
                  <a:srgbClr val="FFFFFF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20xx.xx.xx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6d549228-c874-4083-9f8a-dd42d0c1ba3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